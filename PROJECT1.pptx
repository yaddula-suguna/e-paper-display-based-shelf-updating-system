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7620000" cx="11430000"/>
  <p:notesSz cx="11430000" cy="762000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0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1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c294cf0ca_0_0:notes"/>
          <p:cNvSpPr/>
          <p:nvPr>
            <p:ph idx="2" type="sldImg"/>
          </p:nvPr>
        </p:nvSpPr>
        <p:spPr>
          <a:xfrm>
            <a:off x="1905375" y="571500"/>
            <a:ext cx="7620300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c294cf0ca_0_0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1143000" y="3619500"/>
            <a:ext cx="914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1905375" y="571500"/>
            <a:ext cx="7620375" cy="28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587425" y="975509"/>
            <a:ext cx="10255148" cy="109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920816" y="2027793"/>
            <a:ext cx="4734559" cy="3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50">
                <a:solidFill>
                  <a:srgbClr val="01010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886200" y="70866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5715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2296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9"/>
            <a:ext cx="11430000" cy="6439535"/>
          </a:xfrm>
          <a:custGeom>
            <a:rect b="b" l="l" r="r" t="t"/>
            <a:pathLst>
              <a:path extrusionOk="0" h="6439535" w="11430000">
                <a:moveTo>
                  <a:pt x="11430000" y="0"/>
                </a:moveTo>
                <a:lnTo>
                  <a:pt x="0" y="0"/>
                </a:lnTo>
                <a:lnTo>
                  <a:pt x="0" y="6438963"/>
                </a:lnTo>
                <a:lnTo>
                  <a:pt x="11430000" y="6438963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87425" y="975509"/>
            <a:ext cx="10255148" cy="109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571500" y="1752600"/>
            <a:ext cx="497205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5886450" y="1752600"/>
            <a:ext cx="497205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886200" y="70866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5715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2296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857250" y="2362200"/>
            <a:ext cx="9715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1714500" y="4267200"/>
            <a:ext cx="8001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50">
                <a:solidFill>
                  <a:srgbClr val="01010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886200" y="70866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5715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2296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587425" y="975509"/>
            <a:ext cx="10255148" cy="109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886200" y="70866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5715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2296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1" type="ftr"/>
          </p:nvPr>
        </p:nvSpPr>
        <p:spPr>
          <a:xfrm>
            <a:off x="3886200" y="70866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5715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2296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87425" y="975509"/>
            <a:ext cx="10255148" cy="109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920816" y="2027793"/>
            <a:ext cx="4734559" cy="3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50" u="none" cap="none" strike="noStrike">
                <a:solidFill>
                  <a:srgbClr val="01010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886200" y="70866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5715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7086600"/>
            <a:ext cx="262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11.jpg"/><Relationship Id="rId5" Type="http://schemas.openxmlformats.org/officeDocument/2006/relationships/image" Target="../media/image6.jpg"/><Relationship Id="rId6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Relationship Id="rId4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shelf.loca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9"/>
            <a:ext cx="11430635" cy="6439535"/>
          </a:xfrm>
          <a:custGeom>
            <a:rect b="b" l="l" r="r" t="t"/>
            <a:pathLst>
              <a:path extrusionOk="0" h="6439535" w="11430635">
                <a:moveTo>
                  <a:pt x="11430355" y="0"/>
                </a:moveTo>
                <a:lnTo>
                  <a:pt x="0" y="0"/>
                </a:lnTo>
                <a:lnTo>
                  <a:pt x="0" y="6438963"/>
                </a:lnTo>
                <a:lnTo>
                  <a:pt x="11430355" y="6438963"/>
                </a:lnTo>
                <a:lnTo>
                  <a:pt x="114303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"/>
            <a:ext cx="4289399" cy="643823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>
            <p:ph type="title"/>
          </p:nvPr>
        </p:nvSpPr>
        <p:spPr>
          <a:xfrm>
            <a:off x="4873575" y="1842975"/>
            <a:ext cx="63666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032510" marR="166116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E-Paper Display-Based Shelf Updation 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4873574" y="3268781"/>
            <a:ext cx="61632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64795" rtl="0" algn="l">
              <a:lnSpc>
                <a:spcPct val="13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complete low-power electronic shelf label (ESL) solution combining ESP32 microcontrollers, Bluetooth Low Energy, and e-paper displays. This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dual-firmware system enables wireless price updates for retail environments with ultra-low power consumption and web-based management.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/>
        </p:nvSpPr>
        <p:spPr>
          <a:xfrm>
            <a:off x="0" y="9"/>
            <a:ext cx="11430000" cy="6439535"/>
          </a:xfrm>
          <a:custGeom>
            <a:rect b="b" l="l" r="r" t="t"/>
            <a:pathLst>
              <a:path extrusionOk="0" h="6439535" w="11430000">
                <a:moveTo>
                  <a:pt x="11429644" y="0"/>
                </a:moveTo>
                <a:lnTo>
                  <a:pt x="0" y="0"/>
                </a:lnTo>
                <a:lnTo>
                  <a:pt x="0" y="6439319"/>
                </a:lnTo>
                <a:lnTo>
                  <a:pt x="11429644" y="6439319"/>
                </a:lnTo>
                <a:lnTo>
                  <a:pt x="114296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125" y="2494810"/>
            <a:ext cx="2656801" cy="26568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8"/>
          <p:cNvSpPr txBox="1"/>
          <p:nvPr>
            <p:ph type="title"/>
          </p:nvPr>
        </p:nvSpPr>
        <p:spPr>
          <a:xfrm>
            <a:off x="415325" y="1033200"/>
            <a:ext cx="108300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 with Traditional Shelf Labels</a:t>
            </a:r>
            <a:endParaRPr b="1" sz="3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5429161" y="4009691"/>
            <a:ext cx="57785" cy="58419"/>
          </a:xfrm>
          <a:custGeom>
            <a:rect b="b" l="l" r="r" t="t"/>
            <a:pathLst>
              <a:path extrusionOk="0" h="58420" w="57785">
                <a:moveTo>
                  <a:pt x="32753" y="0"/>
                </a:moveTo>
                <a:lnTo>
                  <a:pt x="25196" y="0"/>
                </a:lnTo>
                <a:lnTo>
                  <a:pt x="21234" y="1079"/>
                </a:lnTo>
                <a:lnTo>
                  <a:pt x="17995" y="2158"/>
                </a:lnTo>
                <a:lnTo>
                  <a:pt x="14757" y="4317"/>
                </a:lnTo>
                <a:lnTo>
                  <a:pt x="11518" y="6121"/>
                </a:lnTo>
                <a:lnTo>
                  <a:pt x="8636" y="8636"/>
                </a:lnTo>
                <a:lnTo>
                  <a:pt x="6476" y="11518"/>
                </a:lnTo>
                <a:lnTo>
                  <a:pt x="4318" y="14757"/>
                </a:lnTo>
                <a:lnTo>
                  <a:pt x="2159" y="17640"/>
                </a:lnTo>
                <a:lnTo>
                  <a:pt x="723" y="21958"/>
                </a:lnTo>
                <a:lnTo>
                  <a:pt x="0" y="25552"/>
                </a:lnTo>
                <a:lnTo>
                  <a:pt x="0" y="32753"/>
                </a:lnTo>
                <a:lnTo>
                  <a:pt x="17995" y="55435"/>
                </a:lnTo>
                <a:lnTo>
                  <a:pt x="21234" y="57238"/>
                </a:lnTo>
                <a:lnTo>
                  <a:pt x="25196" y="58318"/>
                </a:lnTo>
                <a:lnTo>
                  <a:pt x="32753" y="58318"/>
                </a:lnTo>
                <a:lnTo>
                  <a:pt x="36715" y="57238"/>
                </a:lnTo>
                <a:lnTo>
                  <a:pt x="39598" y="55435"/>
                </a:lnTo>
                <a:lnTo>
                  <a:pt x="43192" y="54355"/>
                </a:lnTo>
                <a:lnTo>
                  <a:pt x="46799" y="52196"/>
                </a:lnTo>
                <a:lnTo>
                  <a:pt x="48958" y="49314"/>
                </a:lnTo>
                <a:lnTo>
                  <a:pt x="52197" y="47155"/>
                </a:lnTo>
                <a:lnTo>
                  <a:pt x="54000" y="43916"/>
                </a:lnTo>
                <a:lnTo>
                  <a:pt x="56514" y="36715"/>
                </a:lnTo>
                <a:lnTo>
                  <a:pt x="57238" y="32753"/>
                </a:lnTo>
                <a:lnTo>
                  <a:pt x="57238" y="29514"/>
                </a:lnTo>
                <a:lnTo>
                  <a:pt x="57238" y="25552"/>
                </a:lnTo>
                <a:lnTo>
                  <a:pt x="48958" y="8636"/>
                </a:lnTo>
                <a:lnTo>
                  <a:pt x="46799" y="6121"/>
                </a:lnTo>
                <a:lnTo>
                  <a:pt x="43192" y="4317"/>
                </a:lnTo>
                <a:lnTo>
                  <a:pt x="39598" y="2158"/>
                </a:lnTo>
                <a:lnTo>
                  <a:pt x="36715" y="1079"/>
                </a:lnTo>
                <a:lnTo>
                  <a:pt x="32753" y="0"/>
                </a:lnTo>
                <a:close/>
              </a:path>
            </a:pathLst>
          </a:custGeom>
          <a:solidFill>
            <a:srgbClr val="3737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"/>
          <p:cNvSpPr/>
          <p:nvPr/>
        </p:nvSpPr>
        <p:spPr>
          <a:xfrm>
            <a:off x="5429161" y="4343409"/>
            <a:ext cx="57785" cy="57785"/>
          </a:xfrm>
          <a:custGeom>
            <a:rect b="b" l="l" r="r" t="t"/>
            <a:pathLst>
              <a:path extrusionOk="0" h="57785" w="57785">
                <a:moveTo>
                  <a:pt x="32753" y="0"/>
                </a:moveTo>
                <a:lnTo>
                  <a:pt x="25196" y="0"/>
                </a:lnTo>
                <a:lnTo>
                  <a:pt x="21234" y="1079"/>
                </a:lnTo>
                <a:lnTo>
                  <a:pt x="0" y="24841"/>
                </a:lnTo>
                <a:lnTo>
                  <a:pt x="0" y="32765"/>
                </a:lnTo>
                <a:lnTo>
                  <a:pt x="17995" y="55435"/>
                </a:lnTo>
                <a:lnTo>
                  <a:pt x="21234" y="57238"/>
                </a:lnTo>
                <a:lnTo>
                  <a:pt x="25196" y="57594"/>
                </a:lnTo>
                <a:lnTo>
                  <a:pt x="32753" y="57594"/>
                </a:lnTo>
                <a:lnTo>
                  <a:pt x="36715" y="57238"/>
                </a:lnTo>
                <a:lnTo>
                  <a:pt x="39598" y="55435"/>
                </a:lnTo>
                <a:lnTo>
                  <a:pt x="43192" y="54356"/>
                </a:lnTo>
                <a:lnTo>
                  <a:pt x="46799" y="52196"/>
                </a:lnTo>
                <a:lnTo>
                  <a:pt x="48958" y="49314"/>
                </a:lnTo>
                <a:lnTo>
                  <a:pt x="52197" y="47155"/>
                </a:lnTo>
                <a:lnTo>
                  <a:pt x="54000" y="43916"/>
                </a:lnTo>
                <a:lnTo>
                  <a:pt x="56514" y="36715"/>
                </a:lnTo>
                <a:lnTo>
                  <a:pt x="57238" y="32765"/>
                </a:lnTo>
                <a:lnTo>
                  <a:pt x="57238" y="29159"/>
                </a:lnTo>
                <a:lnTo>
                  <a:pt x="57238" y="24841"/>
                </a:lnTo>
                <a:lnTo>
                  <a:pt x="56514" y="21602"/>
                </a:lnTo>
                <a:lnTo>
                  <a:pt x="54000" y="14401"/>
                </a:lnTo>
                <a:lnTo>
                  <a:pt x="52197" y="11518"/>
                </a:lnTo>
                <a:lnTo>
                  <a:pt x="48958" y="9004"/>
                </a:lnTo>
                <a:lnTo>
                  <a:pt x="46799" y="5765"/>
                </a:lnTo>
                <a:lnTo>
                  <a:pt x="39598" y="2159"/>
                </a:lnTo>
                <a:lnTo>
                  <a:pt x="36715" y="1079"/>
                </a:lnTo>
                <a:lnTo>
                  <a:pt x="32753" y="0"/>
                </a:lnTo>
                <a:close/>
              </a:path>
            </a:pathLst>
          </a:custGeom>
          <a:solidFill>
            <a:srgbClr val="3737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/>
          <p:nvPr/>
        </p:nvSpPr>
        <p:spPr>
          <a:xfrm>
            <a:off x="5429161" y="4676771"/>
            <a:ext cx="57785" cy="57785"/>
          </a:xfrm>
          <a:custGeom>
            <a:rect b="b" l="l" r="r" t="t"/>
            <a:pathLst>
              <a:path extrusionOk="0" h="57785" w="57785">
                <a:moveTo>
                  <a:pt x="32753" y="0"/>
                </a:moveTo>
                <a:lnTo>
                  <a:pt x="25196" y="0"/>
                </a:lnTo>
                <a:lnTo>
                  <a:pt x="21234" y="723"/>
                </a:lnTo>
                <a:lnTo>
                  <a:pt x="17995" y="2158"/>
                </a:lnTo>
                <a:lnTo>
                  <a:pt x="14757" y="3238"/>
                </a:lnTo>
                <a:lnTo>
                  <a:pt x="0" y="25196"/>
                </a:lnTo>
                <a:lnTo>
                  <a:pt x="0" y="32753"/>
                </a:lnTo>
                <a:lnTo>
                  <a:pt x="723" y="36715"/>
                </a:lnTo>
                <a:lnTo>
                  <a:pt x="2159" y="39954"/>
                </a:lnTo>
                <a:lnTo>
                  <a:pt x="4318" y="43192"/>
                </a:lnTo>
                <a:lnTo>
                  <a:pt x="6476" y="46799"/>
                </a:lnTo>
                <a:lnTo>
                  <a:pt x="25196" y="57594"/>
                </a:lnTo>
                <a:lnTo>
                  <a:pt x="32753" y="57594"/>
                </a:lnTo>
                <a:lnTo>
                  <a:pt x="48958" y="49314"/>
                </a:lnTo>
                <a:lnTo>
                  <a:pt x="52197" y="46799"/>
                </a:lnTo>
                <a:lnTo>
                  <a:pt x="54000" y="43192"/>
                </a:lnTo>
                <a:lnTo>
                  <a:pt x="55435" y="39954"/>
                </a:lnTo>
                <a:lnTo>
                  <a:pt x="56514" y="36715"/>
                </a:lnTo>
                <a:lnTo>
                  <a:pt x="57238" y="32753"/>
                </a:lnTo>
                <a:lnTo>
                  <a:pt x="57238" y="29159"/>
                </a:lnTo>
                <a:lnTo>
                  <a:pt x="57238" y="25196"/>
                </a:lnTo>
                <a:lnTo>
                  <a:pt x="56514" y="21234"/>
                </a:lnTo>
                <a:lnTo>
                  <a:pt x="54000" y="13677"/>
                </a:lnTo>
                <a:lnTo>
                  <a:pt x="52197" y="10439"/>
                </a:lnTo>
                <a:lnTo>
                  <a:pt x="48958" y="8280"/>
                </a:lnTo>
                <a:lnTo>
                  <a:pt x="46799" y="5397"/>
                </a:lnTo>
                <a:lnTo>
                  <a:pt x="43192" y="3238"/>
                </a:lnTo>
                <a:lnTo>
                  <a:pt x="39598" y="2158"/>
                </a:lnTo>
                <a:lnTo>
                  <a:pt x="36715" y="723"/>
                </a:lnTo>
                <a:lnTo>
                  <a:pt x="32753" y="0"/>
                </a:lnTo>
                <a:close/>
              </a:path>
            </a:pathLst>
          </a:custGeom>
          <a:solidFill>
            <a:srgbClr val="3737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 txBox="1"/>
          <p:nvPr/>
        </p:nvSpPr>
        <p:spPr>
          <a:xfrm>
            <a:off x="5388381" y="2456558"/>
            <a:ext cx="5550000" cy="22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Updates Are Costly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200"/>
              </a:lnSpc>
              <a:spcBef>
                <a:spcPts val="105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paper labels require manual updates across thousands of products, consuming valuable staff time and creating opportunities for pricing errors.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7020" marR="2105660" rtl="0" algn="l">
              <a:lnSpc>
                <a:spcPct val="162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 manual price changes High</a:t>
            </a: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labor costs for updates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7020" marR="1763395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human errors and inconsistencies No real-time synchronization capability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9598" y="1496171"/>
            <a:ext cx="5778360" cy="201635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title"/>
          </p:nvPr>
        </p:nvSpPr>
        <p:spPr>
          <a:xfrm>
            <a:off x="587425" y="461075"/>
            <a:ext cx="99138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>
                <a:solidFill>
                  <a:srgbClr val="010101"/>
                </a:solidFill>
              </a:rPr>
              <a:t>System Architecture Overview</a:t>
            </a:r>
            <a:endParaRPr sz="3550"/>
          </a:p>
        </p:txBody>
      </p:sp>
      <p:sp>
        <p:nvSpPr>
          <p:cNvPr id="65" name="Google Shape;65;p9"/>
          <p:cNvSpPr txBox="1"/>
          <p:nvPr/>
        </p:nvSpPr>
        <p:spPr>
          <a:xfrm>
            <a:off x="7242373" y="3926800"/>
            <a:ext cx="13656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7624" lvl="0" marL="59689" marR="5080" rtl="0" algn="l">
              <a:lnSpc>
                <a:spcPct val="105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/ MQTT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5289016" y="4097435"/>
            <a:ext cx="1005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Gateway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9"/>
          <p:cNvSpPr txBox="1"/>
          <p:nvPr/>
        </p:nvSpPr>
        <p:spPr>
          <a:xfrm>
            <a:off x="3241700" y="4097435"/>
            <a:ext cx="1256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Shelf Label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599401" y="5876655"/>
            <a:ext cx="3296920" cy="1276985"/>
          </a:xfrm>
          <a:custGeom>
            <a:rect b="b" l="l" r="r" t="t"/>
            <a:pathLst>
              <a:path extrusionOk="0" h="1276984" w="3296920">
                <a:moveTo>
                  <a:pt x="3277793" y="0"/>
                </a:moveTo>
                <a:lnTo>
                  <a:pt x="18719" y="0"/>
                </a:lnTo>
                <a:lnTo>
                  <a:pt x="15836" y="355"/>
                </a:lnTo>
                <a:lnTo>
                  <a:pt x="11163" y="2514"/>
                </a:lnTo>
                <a:lnTo>
                  <a:pt x="8280" y="4318"/>
                </a:lnTo>
                <a:lnTo>
                  <a:pt x="6476" y="6476"/>
                </a:lnTo>
                <a:lnTo>
                  <a:pt x="4317" y="8280"/>
                </a:lnTo>
                <a:lnTo>
                  <a:pt x="2158" y="12953"/>
                </a:lnTo>
                <a:lnTo>
                  <a:pt x="0" y="18719"/>
                </a:lnTo>
                <a:lnTo>
                  <a:pt x="0" y="1255674"/>
                </a:lnTo>
                <a:lnTo>
                  <a:pt x="0" y="1258189"/>
                </a:lnTo>
                <a:lnTo>
                  <a:pt x="2158" y="1263954"/>
                </a:lnTo>
                <a:lnTo>
                  <a:pt x="4317" y="1268628"/>
                </a:lnTo>
                <a:lnTo>
                  <a:pt x="6476" y="1270431"/>
                </a:lnTo>
                <a:lnTo>
                  <a:pt x="8280" y="1272590"/>
                </a:lnTo>
                <a:lnTo>
                  <a:pt x="11163" y="1274394"/>
                </a:lnTo>
                <a:lnTo>
                  <a:pt x="15836" y="1276553"/>
                </a:lnTo>
                <a:lnTo>
                  <a:pt x="18719" y="1276908"/>
                </a:lnTo>
                <a:lnTo>
                  <a:pt x="3277793" y="1276908"/>
                </a:lnTo>
                <a:lnTo>
                  <a:pt x="3296513" y="1258189"/>
                </a:lnTo>
                <a:lnTo>
                  <a:pt x="3296513" y="18719"/>
                </a:lnTo>
                <a:lnTo>
                  <a:pt x="3280676" y="355"/>
                </a:lnTo>
                <a:lnTo>
                  <a:pt x="3277793" y="0"/>
                </a:lnTo>
                <a:close/>
              </a:path>
            </a:pathLst>
          </a:custGeom>
          <a:solidFill>
            <a:srgbClr val="F1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 txBox="1"/>
          <p:nvPr/>
        </p:nvSpPr>
        <p:spPr>
          <a:xfrm>
            <a:off x="587425" y="5069133"/>
            <a:ext cx="10050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architecture separates concerns: ultra-low-power shelf labels communicate via BLE with a gateway controller that bridges to Wi-Fi, MQTT, and web interfaces.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9"/>
          <p:cNvSpPr txBox="1"/>
          <p:nvPr/>
        </p:nvSpPr>
        <p:spPr>
          <a:xfrm>
            <a:off x="758774" y="6028471"/>
            <a:ext cx="2817600" cy="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Shelf Label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4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 receiver, E-Paper display, deep sleep mode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4066921" y="5876655"/>
            <a:ext cx="3296285" cy="1276985"/>
          </a:xfrm>
          <a:custGeom>
            <a:rect b="b" l="l" r="r" t="t"/>
            <a:pathLst>
              <a:path extrusionOk="0" h="1276984" w="3296284">
                <a:moveTo>
                  <a:pt x="3277438" y="0"/>
                </a:moveTo>
                <a:lnTo>
                  <a:pt x="18719" y="0"/>
                </a:lnTo>
                <a:lnTo>
                  <a:pt x="15481" y="355"/>
                </a:lnTo>
                <a:lnTo>
                  <a:pt x="13322" y="1435"/>
                </a:lnTo>
                <a:lnTo>
                  <a:pt x="10439" y="2514"/>
                </a:lnTo>
                <a:lnTo>
                  <a:pt x="8280" y="4318"/>
                </a:lnTo>
                <a:lnTo>
                  <a:pt x="6121" y="6476"/>
                </a:lnTo>
                <a:lnTo>
                  <a:pt x="3962" y="8280"/>
                </a:lnTo>
                <a:lnTo>
                  <a:pt x="1803" y="12953"/>
                </a:lnTo>
                <a:lnTo>
                  <a:pt x="723" y="15836"/>
                </a:lnTo>
                <a:lnTo>
                  <a:pt x="0" y="18719"/>
                </a:lnTo>
                <a:lnTo>
                  <a:pt x="0" y="1255674"/>
                </a:lnTo>
                <a:lnTo>
                  <a:pt x="0" y="1258189"/>
                </a:lnTo>
                <a:lnTo>
                  <a:pt x="723" y="1261071"/>
                </a:lnTo>
                <a:lnTo>
                  <a:pt x="1803" y="1263954"/>
                </a:lnTo>
                <a:lnTo>
                  <a:pt x="3962" y="1268628"/>
                </a:lnTo>
                <a:lnTo>
                  <a:pt x="6121" y="1270431"/>
                </a:lnTo>
                <a:lnTo>
                  <a:pt x="8280" y="1272590"/>
                </a:lnTo>
                <a:lnTo>
                  <a:pt x="10439" y="1274394"/>
                </a:lnTo>
                <a:lnTo>
                  <a:pt x="13322" y="1275473"/>
                </a:lnTo>
                <a:lnTo>
                  <a:pt x="15481" y="1276553"/>
                </a:lnTo>
                <a:lnTo>
                  <a:pt x="18719" y="1276908"/>
                </a:lnTo>
                <a:lnTo>
                  <a:pt x="3277438" y="1276908"/>
                </a:lnTo>
                <a:lnTo>
                  <a:pt x="3280676" y="1276553"/>
                </a:lnTo>
                <a:lnTo>
                  <a:pt x="3282835" y="1275473"/>
                </a:lnTo>
                <a:lnTo>
                  <a:pt x="3285718" y="1274394"/>
                </a:lnTo>
                <a:lnTo>
                  <a:pt x="3287877" y="1272590"/>
                </a:lnTo>
                <a:lnTo>
                  <a:pt x="3290036" y="1270431"/>
                </a:lnTo>
                <a:lnTo>
                  <a:pt x="3292195" y="1268628"/>
                </a:lnTo>
                <a:lnTo>
                  <a:pt x="3293275" y="1266469"/>
                </a:lnTo>
                <a:lnTo>
                  <a:pt x="3295434" y="1261071"/>
                </a:lnTo>
                <a:lnTo>
                  <a:pt x="3296157" y="1258189"/>
                </a:lnTo>
                <a:lnTo>
                  <a:pt x="3296157" y="18719"/>
                </a:lnTo>
                <a:lnTo>
                  <a:pt x="3295434" y="15836"/>
                </a:lnTo>
                <a:lnTo>
                  <a:pt x="3294354" y="12953"/>
                </a:lnTo>
                <a:lnTo>
                  <a:pt x="3292195" y="8280"/>
                </a:lnTo>
                <a:lnTo>
                  <a:pt x="3290036" y="6476"/>
                </a:lnTo>
                <a:lnTo>
                  <a:pt x="3287877" y="4318"/>
                </a:lnTo>
                <a:lnTo>
                  <a:pt x="3285718" y="2514"/>
                </a:lnTo>
                <a:lnTo>
                  <a:pt x="3282835" y="1435"/>
                </a:lnTo>
                <a:lnTo>
                  <a:pt x="3280676" y="355"/>
                </a:lnTo>
                <a:lnTo>
                  <a:pt x="3277438" y="0"/>
                </a:lnTo>
                <a:close/>
              </a:path>
            </a:pathLst>
          </a:custGeom>
          <a:solidFill>
            <a:srgbClr val="F1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 txBox="1"/>
          <p:nvPr/>
        </p:nvSpPr>
        <p:spPr>
          <a:xfrm>
            <a:off x="4225937" y="6028471"/>
            <a:ext cx="2753400" cy="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Gateway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4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Wi-Fi bridge, Web UI, MQTT client, OTA updates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7534084" y="5876655"/>
            <a:ext cx="3296920" cy="1276985"/>
          </a:xfrm>
          <a:custGeom>
            <a:rect b="b" l="l" r="r" t="t"/>
            <a:pathLst>
              <a:path extrusionOk="0" h="1276984" w="3296920">
                <a:moveTo>
                  <a:pt x="3277793" y="0"/>
                </a:moveTo>
                <a:lnTo>
                  <a:pt x="18719" y="0"/>
                </a:lnTo>
                <a:lnTo>
                  <a:pt x="15836" y="355"/>
                </a:lnTo>
                <a:lnTo>
                  <a:pt x="0" y="18719"/>
                </a:lnTo>
                <a:lnTo>
                  <a:pt x="0" y="1255674"/>
                </a:lnTo>
                <a:lnTo>
                  <a:pt x="0" y="1258189"/>
                </a:lnTo>
                <a:lnTo>
                  <a:pt x="18719" y="1276908"/>
                </a:lnTo>
                <a:lnTo>
                  <a:pt x="3277793" y="1276908"/>
                </a:lnTo>
                <a:lnTo>
                  <a:pt x="3280676" y="1276553"/>
                </a:lnTo>
                <a:lnTo>
                  <a:pt x="3285350" y="1274394"/>
                </a:lnTo>
                <a:lnTo>
                  <a:pt x="3288233" y="1272590"/>
                </a:lnTo>
                <a:lnTo>
                  <a:pt x="3290036" y="1270431"/>
                </a:lnTo>
                <a:lnTo>
                  <a:pt x="3292195" y="1268628"/>
                </a:lnTo>
                <a:lnTo>
                  <a:pt x="3293275" y="1266469"/>
                </a:lnTo>
                <a:lnTo>
                  <a:pt x="3296513" y="1258189"/>
                </a:lnTo>
                <a:lnTo>
                  <a:pt x="3296513" y="18719"/>
                </a:lnTo>
                <a:lnTo>
                  <a:pt x="3294354" y="12953"/>
                </a:lnTo>
                <a:lnTo>
                  <a:pt x="3292195" y="8280"/>
                </a:lnTo>
                <a:lnTo>
                  <a:pt x="3290036" y="6476"/>
                </a:lnTo>
                <a:lnTo>
                  <a:pt x="3288233" y="4318"/>
                </a:lnTo>
                <a:lnTo>
                  <a:pt x="3285350" y="2514"/>
                </a:lnTo>
                <a:lnTo>
                  <a:pt x="3280676" y="355"/>
                </a:lnTo>
                <a:lnTo>
                  <a:pt x="3277793" y="0"/>
                </a:lnTo>
                <a:close/>
              </a:path>
            </a:pathLst>
          </a:custGeom>
          <a:solidFill>
            <a:srgbClr val="F1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7693100" y="6028471"/>
            <a:ext cx="2692500" cy="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Backend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4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MQTT broker, data feeds, remote control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0"/>
          <p:cNvGrpSpPr/>
          <p:nvPr/>
        </p:nvGrpSpPr>
        <p:grpSpPr>
          <a:xfrm>
            <a:off x="604799" y="2300055"/>
            <a:ext cx="5020310" cy="1267460"/>
            <a:chOff x="604799" y="2300055"/>
            <a:chExt cx="5020310" cy="1267460"/>
          </a:xfrm>
        </p:grpSpPr>
        <p:sp>
          <p:nvSpPr>
            <p:cNvPr id="80" name="Google Shape;80;p10"/>
            <p:cNvSpPr/>
            <p:nvPr/>
          </p:nvSpPr>
          <p:spPr>
            <a:xfrm>
              <a:off x="604799" y="2300055"/>
              <a:ext cx="5020310" cy="1267460"/>
            </a:xfrm>
            <a:custGeom>
              <a:rect b="b" l="l" r="r" t="t"/>
              <a:pathLst>
                <a:path extrusionOk="0" h="1267460" w="5020310">
                  <a:moveTo>
                    <a:pt x="4968354" y="0"/>
                  </a:moveTo>
                  <a:lnTo>
                    <a:pt x="51485" y="0"/>
                  </a:lnTo>
                  <a:lnTo>
                    <a:pt x="47879" y="355"/>
                  </a:lnTo>
                  <a:lnTo>
                    <a:pt x="13322" y="18719"/>
                  </a:lnTo>
                  <a:lnTo>
                    <a:pt x="0" y="51828"/>
                  </a:lnTo>
                  <a:lnTo>
                    <a:pt x="0" y="1212113"/>
                  </a:lnTo>
                  <a:lnTo>
                    <a:pt x="0" y="1215707"/>
                  </a:lnTo>
                  <a:lnTo>
                    <a:pt x="16205" y="1250988"/>
                  </a:lnTo>
                  <a:lnTo>
                    <a:pt x="21234" y="1256029"/>
                  </a:lnTo>
                  <a:lnTo>
                    <a:pt x="24485" y="1257833"/>
                  </a:lnTo>
                  <a:lnTo>
                    <a:pt x="27355" y="1259992"/>
                  </a:lnTo>
                  <a:lnTo>
                    <a:pt x="30594" y="1261795"/>
                  </a:lnTo>
                  <a:lnTo>
                    <a:pt x="40678" y="1265389"/>
                  </a:lnTo>
                  <a:lnTo>
                    <a:pt x="47879" y="1266837"/>
                  </a:lnTo>
                  <a:lnTo>
                    <a:pt x="51485" y="1267193"/>
                  </a:lnTo>
                  <a:lnTo>
                    <a:pt x="4968354" y="1267193"/>
                  </a:lnTo>
                  <a:lnTo>
                    <a:pt x="4971961" y="1266837"/>
                  </a:lnTo>
                  <a:lnTo>
                    <a:pt x="4979162" y="1265389"/>
                  </a:lnTo>
                  <a:lnTo>
                    <a:pt x="4982400" y="1264310"/>
                  </a:lnTo>
                  <a:lnTo>
                    <a:pt x="4985639" y="1262875"/>
                  </a:lnTo>
                  <a:lnTo>
                    <a:pt x="4989245" y="1261795"/>
                  </a:lnTo>
                  <a:lnTo>
                    <a:pt x="4992484" y="1259992"/>
                  </a:lnTo>
                  <a:lnTo>
                    <a:pt x="4995354" y="1257833"/>
                  </a:lnTo>
                  <a:lnTo>
                    <a:pt x="4998237" y="1256029"/>
                  </a:lnTo>
                  <a:lnTo>
                    <a:pt x="5001120" y="1253515"/>
                  </a:lnTo>
                  <a:lnTo>
                    <a:pt x="5006162" y="1248473"/>
                  </a:lnTo>
                  <a:lnTo>
                    <a:pt x="5008676" y="1245590"/>
                  </a:lnTo>
                  <a:lnTo>
                    <a:pt x="5010480" y="1242707"/>
                  </a:lnTo>
                  <a:lnTo>
                    <a:pt x="5012639" y="1239837"/>
                  </a:lnTo>
                  <a:lnTo>
                    <a:pt x="5014442" y="1236599"/>
                  </a:lnTo>
                  <a:lnTo>
                    <a:pt x="5015522" y="1232992"/>
                  </a:lnTo>
                  <a:lnTo>
                    <a:pt x="5016957" y="1229753"/>
                  </a:lnTo>
                  <a:lnTo>
                    <a:pt x="5018036" y="1226515"/>
                  </a:lnTo>
                  <a:lnTo>
                    <a:pt x="5019484" y="1219314"/>
                  </a:lnTo>
                  <a:lnTo>
                    <a:pt x="5019840" y="1215707"/>
                  </a:lnTo>
                  <a:lnTo>
                    <a:pt x="5019840" y="51828"/>
                  </a:lnTo>
                  <a:lnTo>
                    <a:pt x="5019484" y="48234"/>
                  </a:lnTo>
                  <a:lnTo>
                    <a:pt x="5018036" y="41033"/>
                  </a:lnTo>
                  <a:lnTo>
                    <a:pt x="5016957" y="37439"/>
                  </a:lnTo>
                  <a:lnTo>
                    <a:pt x="5015522" y="34188"/>
                  </a:lnTo>
                  <a:lnTo>
                    <a:pt x="5014442" y="30949"/>
                  </a:lnTo>
                  <a:lnTo>
                    <a:pt x="4982400" y="2870"/>
                  </a:lnTo>
                  <a:lnTo>
                    <a:pt x="4971961" y="355"/>
                  </a:lnTo>
                  <a:lnTo>
                    <a:pt x="4968354" y="0"/>
                  </a:lnTo>
                  <a:close/>
                </a:path>
              </a:pathLst>
            </a:custGeom>
            <a:solidFill>
              <a:srgbClr val="D9DA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604799" y="2300055"/>
              <a:ext cx="5020310" cy="1267460"/>
            </a:xfrm>
            <a:custGeom>
              <a:rect b="b" l="l" r="r" t="t"/>
              <a:pathLst>
                <a:path extrusionOk="0" h="1267460" w="5020310">
                  <a:moveTo>
                    <a:pt x="0" y="1212113"/>
                  </a:moveTo>
                  <a:lnTo>
                    <a:pt x="0" y="55435"/>
                  </a:lnTo>
                  <a:lnTo>
                    <a:pt x="0" y="51828"/>
                  </a:lnTo>
                  <a:lnTo>
                    <a:pt x="355" y="48234"/>
                  </a:lnTo>
                  <a:lnTo>
                    <a:pt x="1079" y="44627"/>
                  </a:lnTo>
                  <a:lnTo>
                    <a:pt x="1803" y="41033"/>
                  </a:lnTo>
                  <a:lnTo>
                    <a:pt x="2514" y="37439"/>
                  </a:lnTo>
                  <a:lnTo>
                    <a:pt x="3962" y="34188"/>
                  </a:lnTo>
                  <a:lnTo>
                    <a:pt x="5397" y="30949"/>
                  </a:lnTo>
                  <a:lnTo>
                    <a:pt x="7200" y="27711"/>
                  </a:lnTo>
                  <a:lnTo>
                    <a:pt x="9004" y="24472"/>
                  </a:lnTo>
                  <a:lnTo>
                    <a:pt x="11163" y="21589"/>
                  </a:lnTo>
                  <a:lnTo>
                    <a:pt x="13322" y="18719"/>
                  </a:lnTo>
                  <a:lnTo>
                    <a:pt x="16205" y="16192"/>
                  </a:lnTo>
                  <a:lnTo>
                    <a:pt x="18719" y="13677"/>
                  </a:lnTo>
                  <a:lnTo>
                    <a:pt x="21234" y="11518"/>
                  </a:lnTo>
                  <a:lnTo>
                    <a:pt x="24485" y="9359"/>
                  </a:lnTo>
                  <a:lnTo>
                    <a:pt x="27355" y="7188"/>
                  </a:lnTo>
                  <a:lnTo>
                    <a:pt x="44284" y="1079"/>
                  </a:lnTo>
                  <a:lnTo>
                    <a:pt x="47879" y="355"/>
                  </a:lnTo>
                  <a:lnTo>
                    <a:pt x="51485" y="0"/>
                  </a:lnTo>
                  <a:lnTo>
                    <a:pt x="55079" y="0"/>
                  </a:lnTo>
                  <a:lnTo>
                    <a:pt x="4964760" y="0"/>
                  </a:lnTo>
                  <a:lnTo>
                    <a:pt x="4968354" y="0"/>
                  </a:lnTo>
                  <a:lnTo>
                    <a:pt x="4971961" y="355"/>
                  </a:lnTo>
                  <a:lnTo>
                    <a:pt x="4975555" y="1079"/>
                  </a:lnTo>
                  <a:lnTo>
                    <a:pt x="4979162" y="1790"/>
                  </a:lnTo>
                  <a:lnTo>
                    <a:pt x="4982400" y="2870"/>
                  </a:lnTo>
                  <a:lnTo>
                    <a:pt x="4985639" y="4318"/>
                  </a:lnTo>
                  <a:lnTo>
                    <a:pt x="4989245" y="5753"/>
                  </a:lnTo>
                  <a:lnTo>
                    <a:pt x="4992484" y="7188"/>
                  </a:lnTo>
                  <a:lnTo>
                    <a:pt x="4995354" y="9359"/>
                  </a:lnTo>
                  <a:lnTo>
                    <a:pt x="4998237" y="11518"/>
                  </a:lnTo>
                  <a:lnTo>
                    <a:pt x="5001120" y="13677"/>
                  </a:lnTo>
                  <a:lnTo>
                    <a:pt x="5003634" y="16192"/>
                  </a:lnTo>
                  <a:lnTo>
                    <a:pt x="5006162" y="18719"/>
                  </a:lnTo>
                  <a:lnTo>
                    <a:pt x="5008676" y="21589"/>
                  </a:lnTo>
                  <a:lnTo>
                    <a:pt x="5010480" y="24472"/>
                  </a:lnTo>
                  <a:lnTo>
                    <a:pt x="5012639" y="27711"/>
                  </a:lnTo>
                  <a:lnTo>
                    <a:pt x="5014442" y="30949"/>
                  </a:lnTo>
                  <a:lnTo>
                    <a:pt x="5015522" y="34188"/>
                  </a:lnTo>
                  <a:lnTo>
                    <a:pt x="5016957" y="37439"/>
                  </a:lnTo>
                  <a:lnTo>
                    <a:pt x="5018036" y="41033"/>
                  </a:lnTo>
                  <a:lnTo>
                    <a:pt x="5018760" y="44627"/>
                  </a:lnTo>
                  <a:lnTo>
                    <a:pt x="5019484" y="48234"/>
                  </a:lnTo>
                  <a:lnTo>
                    <a:pt x="5019840" y="51828"/>
                  </a:lnTo>
                  <a:lnTo>
                    <a:pt x="5019840" y="55435"/>
                  </a:lnTo>
                  <a:lnTo>
                    <a:pt x="5019840" y="1212113"/>
                  </a:lnTo>
                  <a:lnTo>
                    <a:pt x="5019840" y="1215707"/>
                  </a:lnTo>
                  <a:lnTo>
                    <a:pt x="5019484" y="1219314"/>
                  </a:lnTo>
                  <a:lnTo>
                    <a:pt x="5018760" y="1222908"/>
                  </a:lnTo>
                  <a:lnTo>
                    <a:pt x="5018036" y="1226515"/>
                  </a:lnTo>
                  <a:lnTo>
                    <a:pt x="5016957" y="1229753"/>
                  </a:lnTo>
                  <a:lnTo>
                    <a:pt x="5015522" y="1232992"/>
                  </a:lnTo>
                  <a:lnTo>
                    <a:pt x="5014442" y="1236599"/>
                  </a:lnTo>
                  <a:lnTo>
                    <a:pt x="5012639" y="1239837"/>
                  </a:lnTo>
                  <a:lnTo>
                    <a:pt x="5010480" y="1242707"/>
                  </a:lnTo>
                  <a:lnTo>
                    <a:pt x="5008676" y="1245590"/>
                  </a:lnTo>
                  <a:lnTo>
                    <a:pt x="5006162" y="1248473"/>
                  </a:lnTo>
                  <a:lnTo>
                    <a:pt x="5003634" y="1250988"/>
                  </a:lnTo>
                  <a:lnTo>
                    <a:pt x="5001120" y="1253515"/>
                  </a:lnTo>
                  <a:lnTo>
                    <a:pt x="4998237" y="1256029"/>
                  </a:lnTo>
                  <a:lnTo>
                    <a:pt x="4995354" y="1257833"/>
                  </a:lnTo>
                  <a:lnTo>
                    <a:pt x="4992484" y="1259992"/>
                  </a:lnTo>
                  <a:lnTo>
                    <a:pt x="4989245" y="1261795"/>
                  </a:lnTo>
                  <a:lnTo>
                    <a:pt x="4985639" y="1262875"/>
                  </a:lnTo>
                  <a:lnTo>
                    <a:pt x="4982400" y="1264310"/>
                  </a:lnTo>
                  <a:lnTo>
                    <a:pt x="4979162" y="1265389"/>
                  </a:lnTo>
                  <a:lnTo>
                    <a:pt x="4975555" y="1266113"/>
                  </a:lnTo>
                  <a:lnTo>
                    <a:pt x="4971961" y="1266837"/>
                  </a:lnTo>
                  <a:lnTo>
                    <a:pt x="4968354" y="1267193"/>
                  </a:lnTo>
                  <a:lnTo>
                    <a:pt x="4964760" y="1267193"/>
                  </a:lnTo>
                  <a:lnTo>
                    <a:pt x="55079" y="1267193"/>
                  </a:lnTo>
                  <a:lnTo>
                    <a:pt x="51485" y="1267193"/>
                  </a:lnTo>
                  <a:lnTo>
                    <a:pt x="47879" y="1266837"/>
                  </a:lnTo>
                  <a:lnTo>
                    <a:pt x="44284" y="1266113"/>
                  </a:lnTo>
                  <a:lnTo>
                    <a:pt x="40678" y="1265389"/>
                  </a:lnTo>
                  <a:lnTo>
                    <a:pt x="37439" y="1264310"/>
                  </a:lnTo>
                  <a:lnTo>
                    <a:pt x="33845" y="1262875"/>
                  </a:lnTo>
                  <a:lnTo>
                    <a:pt x="30594" y="1261795"/>
                  </a:lnTo>
                  <a:lnTo>
                    <a:pt x="27355" y="1259992"/>
                  </a:lnTo>
                  <a:lnTo>
                    <a:pt x="24485" y="1257833"/>
                  </a:lnTo>
                  <a:lnTo>
                    <a:pt x="21234" y="1256029"/>
                  </a:lnTo>
                  <a:lnTo>
                    <a:pt x="18719" y="1253515"/>
                  </a:lnTo>
                  <a:lnTo>
                    <a:pt x="16205" y="1250988"/>
                  </a:lnTo>
                  <a:lnTo>
                    <a:pt x="13322" y="1248473"/>
                  </a:lnTo>
                  <a:lnTo>
                    <a:pt x="3962" y="1232992"/>
                  </a:lnTo>
                  <a:lnTo>
                    <a:pt x="2514" y="1229753"/>
                  </a:lnTo>
                  <a:lnTo>
                    <a:pt x="1803" y="1226515"/>
                  </a:lnTo>
                  <a:lnTo>
                    <a:pt x="1079" y="1222908"/>
                  </a:lnTo>
                  <a:lnTo>
                    <a:pt x="355" y="1219314"/>
                  </a:lnTo>
                  <a:lnTo>
                    <a:pt x="0" y="1215707"/>
                  </a:lnTo>
                  <a:lnTo>
                    <a:pt x="0" y="1212113"/>
                  </a:lnTo>
                  <a:close/>
                </a:path>
              </a:pathLst>
            </a:custGeom>
            <a:noFill/>
            <a:ln cap="flat" cmpd="sng" w="9525">
              <a:solidFill>
                <a:srgbClr val="BFC0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0"/>
          <p:cNvSpPr txBox="1"/>
          <p:nvPr>
            <p:ph type="title"/>
          </p:nvPr>
        </p:nvSpPr>
        <p:spPr>
          <a:xfrm>
            <a:off x="587425" y="975509"/>
            <a:ext cx="102552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6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Shelf Label Core Features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3" name="Google Shape;83;p10"/>
          <p:cNvGrpSpPr/>
          <p:nvPr/>
        </p:nvGrpSpPr>
        <p:grpSpPr>
          <a:xfrm>
            <a:off x="5805360" y="2300055"/>
            <a:ext cx="5020310" cy="1267460"/>
            <a:chOff x="5805360" y="2300055"/>
            <a:chExt cx="5020310" cy="1267460"/>
          </a:xfrm>
        </p:grpSpPr>
        <p:sp>
          <p:nvSpPr>
            <p:cNvPr id="84" name="Google Shape;84;p10"/>
            <p:cNvSpPr/>
            <p:nvPr/>
          </p:nvSpPr>
          <p:spPr>
            <a:xfrm>
              <a:off x="5805360" y="2300055"/>
              <a:ext cx="5020310" cy="1267460"/>
            </a:xfrm>
            <a:custGeom>
              <a:rect b="b" l="l" r="r" t="t"/>
              <a:pathLst>
                <a:path extrusionOk="0" h="1267460" w="5020309">
                  <a:moveTo>
                    <a:pt x="4968354" y="0"/>
                  </a:moveTo>
                  <a:lnTo>
                    <a:pt x="51485" y="0"/>
                  </a:lnTo>
                  <a:lnTo>
                    <a:pt x="47878" y="355"/>
                  </a:lnTo>
                  <a:lnTo>
                    <a:pt x="11163" y="21589"/>
                  </a:lnTo>
                  <a:lnTo>
                    <a:pt x="4317" y="34188"/>
                  </a:lnTo>
                  <a:lnTo>
                    <a:pt x="2882" y="37439"/>
                  </a:lnTo>
                  <a:lnTo>
                    <a:pt x="1803" y="41033"/>
                  </a:lnTo>
                  <a:lnTo>
                    <a:pt x="355" y="48234"/>
                  </a:lnTo>
                  <a:lnTo>
                    <a:pt x="0" y="51828"/>
                  </a:lnTo>
                  <a:lnTo>
                    <a:pt x="0" y="1212113"/>
                  </a:lnTo>
                  <a:lnTo>
                    <a:pt x="0" y="1215707"/>
                  </a:lnTo>
                  <a:lnTo>
                    <a:pt x="355" y="1219314"/>
                  </a:lnTo>
                  <a:lnTo>
                    <a:pt x="1803" y="1226515"/>
                  </a:lnTo>
                  <a:lnTo>
                    <a:pt x="2882" y="1229753"/>
                  </a:lnTo>
                  <a:lnTo>
                    <a:pt x="4317" y="1232992"/>
                  </a:lnTo>
                  <a:lnTo>
                    <a:pt x="5397" y="1236599"/>
                  </a:lnTo>
                  <a:lnTo>
                    <a:pt x="7200" y="1239837"/>
                  </a:lnTo>
                  <a:lnTo>
                    <a:pt x="9359" y="1242707"/>
                  </a:lnTo>
                  <a:lnTo>
                    <a:pt x="11163" y="1245590"/>
                  </a:lnTo>
                  <a:lnTo>
                    <a:pt x="13677" y="1248473"/>
                  </a:lnTo>
                  <a:lnTo>
                    <a:pt x="18719" y="1253515"/>
                  </a:lnTo>
                  <a:lnTo>
                    <a:pt x="21602" y="1256029"/>
                  </a:lnTo>
                  <a:lnTo>
                    <a:pt x="24485" y="1257833"/>
                  </a:lnTo>
                  <a:lnTo>
                    <a:pt x="27355" y="1259992"/>
                  </a:lnTo>
                  <a:lnTo>
                    <a:pt x="30594" y="1261795"/>
                  </a:lnTo>
                  <a:lnTo>
                    <a:pt x="34201" y="1262875"/>
                  </a:lnTo>
                  <a:lnTo>
                    <a:pt x="37439" y="1264310"/>
                  </a:lnTo>
                  <a:lnTo>
                    <a:pt x="40678" y="1265389"/>
                  </a:lnTo>
                  <a:lnTo>
                    <a:pt x="47878" y="1266837"/>
                  </a:lnTo>
                  <a:lnTo>
                    <a:pt x="51485" y="1267193"/>
                  </a:lnTo>
                  <a:lnTo>
                    <a:pt x="4968354" y="1267193"/>
                  </a:lnTo>
                  <a:lnTo>
                    <a:pt x="4995354" y="1257833"/>
                  </a:lnTo>
                  <a:lnTo>
                    <a:pt x="4998605" y="1256029"/>
                  </a:lnTo>
                  <a:lnTo>
                    <a:pt x="5003634" y="1250988"/>
                  </a:lnTo>
                  <a:lnTo>
                    <a:pt x="5006517" y="1248473"/>
                  </a:lnTo>
                  <a:lnTo>
                    <a:pt x="5010835" y="1242707"/>
                  </a:lnTo>
                  <a:lnTo>
                    <a:pt x="5014442" y="1236599"/>
                  </a:lnTo>
                  <a:lnTo>
                    <a:pt x="5017325" y="1229753"/>
                  </a:lnTo>
                  <a:lnTo>
                    <a:pt x="5019484" y="1219314"/>
                  </a:lnTo>
                  <a:lnTo>
                    <a:pt x="5019840" y="1215707"/>
                  </a:lnTo>
                  <a:lnTo>
                    <a:pt x="5019840" y="51828"/>
                  </a:lnTo>
                  <a:lnTo>
                    <a:pt x="5001120" y="13677"/>
                  </a:lnTo>
                  <a:lnTo>
                    <a:pt x="4971961" y="355"/>
                  </a:lnTo>
                  <a:lnTo>
                    <a:pt x="4968354" y="0"/>
                  </a:lnTo>
                  <a:close/>
                </a:path>
              </a:pathLst>
            </a:custGeom>
            <a:solidFill>
              <a:srgbClr val="D9DA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0"/>
            <p:cNvSpPr/>
            <p:nvPr/>
          </p:nvSpPr>
          <p:spPr>
            <a:xfrm>
              <a:off x="5805360" y="2300055"/>
              <a:ext cx="5020310" cy="1267460"/>
            </a:xfrm>
            <a:custGeom>
              <a:rect b="b" l="l" r="r" t="t"/>
              <a:pathLst>
                <a:path extrusionOk="0" h="1267460" w="5020309">
                  <a:moveTo>
                    <a:pt x="0" y="1212113"/>
                  </a:moveTo>
                  <a:lnTo>
                    <a:pt x="0" y="55435"/>
                  </a:lnTo>
                  <a:lnTo>
                    <a:pt x="0" y="51828"/>
                  </a:lnTo>
                  <a:lnTo>
                    <a:pt x="355" y="48234"/>
                  </a:lnTo>
                  <a:lnTo>
                    <a:pt x="1079" y="44627"/>
                  </a:lnTo>
                  <a:lnTo>
                    <a:pt x="1803" y="41033"/>
                  </a:lnTo>
                  <a:lnTo>
                    <a:pt x="2882" y="37439"/>
                  </a:lnTo>
                  <a:lnTo>
                    <a:pt x="4317" y="34188"/>
                  </a:lnTo>
                  <a:lnTo>
                    <a:pt x="5397" y="30949"/>
                  </a:lnTo>
                  <a:lnTo>
                    <a:pt x="7200" y="27711"/>
                  </a:lnTo>
                  <a:lnTo>
                    <a:pt x="9359" y="24472"/>
                  </a:lnTo>
                  <a:lnTo>
                    <a:pt x="11163" y="21589"/>
                  </a:lnTo>
                  <a:lnTo>
                    <a:pt x="13677" y="18719"/>
                  </a:lnTo>
                  <a:lnTo>
                    <a:pt x="16205" y="16192"/>
                  </a:lnTo>
                  <a:lnTo>
                    <a:pt x="18719" y="13677"/>
                  </a:lnTo>
                  <a:lnTo>
                    <a:pt x="21602" y="11518"/>
                  </a:lnTo>
                  <a:lnTo>
                    <a:pt x="24485" y="9359"/>
                  </a:lnTo>
                  <a:lnTo>
                    <a:pt x="27355" y="7188"/>
                  </a:lnTo>
                  <a:lnTo>
                    <a:pt x="30594" y="5753"/>
                  </a:lnTo>
                  <a:lnTo>
                    <a:pt x="34201" y="4318"/>
                  </a:lnTo>
                  <a:lnTo>
                    <a:pt x="37439" y="2870"/>
                  </a:lnTo>
                  <a:lnTo>
                    <a:pt x="40678" y="1790"/>
                  </a:lnTo>
                  <a:lnTo>
                    <a:pt x="44284" y="1079"/>
                  </a:lnTo>
                  <a:lnTo>
                    <a:pt x="47878" y="355"/>
                  </a:lnTo>
                  <a:lnTo>
                    <a:pt x="51485" y="0"/>
                  </a:lnTo>
                  <a:lnTo>
                    <a:pt x="55079" y="0"/>
                  </a:lnTo>
                  <a:lnTo>
                    <a:pt x="4964760" y="0"/>
                  </a:lnTo>
                  <a:lnTo>
                    <a:pt x="4968354" y="0"/>
                  </a:lnTo>
                  <a:lnTo>
                    <a:pt x="4971961" y="355"/>
                  </a:lnTo>
                  <a:lnTo>
                    <a:pt x="4975555" y="1079"/>
                  </a:lnTo>
                  <a:lnTo>
                    <a:pt x="4979161" y="1790"/>
                  </a:lnTo>
                  <a:lnTo>
                    <a:pt x="4995354" y="9359"/>
                  </a:lnTo>
                  <a:lnTo>
                    <a:pt x="4998605" y="11518"/>
                  </a:lnTo>
                  <a:lnTo>
                    <a:pt x="5001120" y="13677"/>
                  </a:lnTo>
                  <a:lnTo>
                    <a:pt x="5003634" y="16192"/>
                  </a:lnTo>
                  <a:lnTo>
                    <a:pt x="5006517" y="18719"/>
                  </a:lnTo>
                  <a:lnTo>
                    <a:pt x="5015877" y="34188"/>
                  </a:lnTo>
                  <a:lnTo>
                    <a:pt x="5017325" y="37439"/>
                  </a:lnTo>
                  <a:lnTo>
                    <a:pt x="5018036" y="41033"/>
                  </a:lnTo>
                  <a:lnTo>
                    <a:pt x="5018760" y="44627"/>
                  </a:lnTo>
                  <a:lnTo>
                    <a:pt x="5019484" y="48234"/>
                  </a:lnTo>
                  <a:lnTo>
                    <a:pt x="5019840" y="51828"/>
                  </a:lnTo>
                  <a:lnTo>
                    <a:pt x="5019840" y="55435"/>
                  </a:lnTo>
                  <a:lnTo>
                    <a:pt x="5019840" y="1212113"/>
                  </a:lnTo>
                  <a:lnTo>
                    <a:pt x="5019840" y="1215707"/>
                  </a:lnTo>
                  <a:lnTo>
                    <a:pt x="5019484" y="1219314"/>
                  </a:lnTo>
                  <a:lnTo>
                    <a:pt x="5018760" y="1222908"/>
                  </a:lnTo>
                  <a:lnTo>
                    <a:pt x="5018036" y="1226515"/>
                  </a:lnTo>
                  <a:lnTo>
                    <a:pt x="5017325" y="1229753"/>
                  </a:lnTo>
                  <a:lnTo>
                    <a:pt x="5015877" y="1232992"/>
                  </a:lnTo>
                  <a:lnTo>
                    <a:pt x="5014442" y="1236599"/>
                  </a:lnTo>
                  <a:lnTo>
                    <a:pt x="5003634" y="1250988"/>
                  </a:lnTo>
                  <a:lnTo>
                    <a:pt x="5001120" y="1253515"/>
                  </a:lnTo>
                  <a:lnTo>
                    <a:pt x="4998605" y="1256029"/>
                  </a:lnTo>
                  <a:lnTo>
                    <a:pt x="4995354" y="1257833"/>
                  </a:lnTo>
                  <a:lnTo>
                    <a:pt x="4992484" y="1259992"/>
                  </a:lnTo>
                  <a:lnTo>
                    <a:pt x="4989245" y="1261795"/>
                  </a:lnTo>
                  <a:lnTo>
                    <a:pt x="4985994" y="1262875"/>
                  </a:lnTo>
                  <a:lnTo>
                    <a:pt x="4982400" y="1264310"/>
                  </a:lnTo>
                  <a:lnTo>
                    <a:pt x="4979161" y="1265389"/>
                  </a:lnTo>
                  <a:lnTo>
                    <a:pt x="4975555" y="1266113"/>
                  </a:lnTo>
                  <a:lnTo>
                    <a:pt x="4971961" y="1266837"/>
                  </a:lnTo>
                  <a:lnTo>
                    <a:pt x="4968354" y="1267193"/>
                  </a:lnTo>
                  <a:lnTo>
                    <a:pt x="4964760" y="1267193"/>
                  </a:lnTo>
                  <a:lnTo>
                    <a:pt x="55079" y="1267193"/>
                  </a:lnTo>
                  <a:lnTo>
                    <a:pt x="51485" y="1267193"/>
                  </a:lnTo>
                  <a:lnTo>
                    <a:pt x="47878" y="1266837"/>
                  </a:lnTo>
                  <a:lnTo>
                    <a:pt x="44284" y="1266113"/>
                  </a:lnTo>
                  <a:lnTo>
                    <a:pt x="40678" y="1265389"/>
                  </a:lnTo>
                  <a:lnTo>
                    <a:pt x="37439" y="1264310"/>
                  </a:lnTo>
                  <a:lnTo>
                    <a:pt x="34201" y="1262875"/>
                  </a:lnTo>
                  <a:lnTo>
                    <a:pt x="30594" y="1261795"/>
                  </a:lnTo>
                  <a:lnTo>
                    <a:pt x="27355" y="1259992"/>
                  </a:lnTo>
                  <a:lnTo>
                    <a:pt x="24485" y="1257833"/>
                  </a:lnTo>
                  <a:lnTo>
                    <a:pt x="21602" y="1256029"/>
                  </a:lnTo>
                  <a:lnTo>
                    <a:pt x="18719" y="1253515"/>
                  </a:lnTo>
                  <a:lnTo>
                    <a:pt x="16205" y="1250988"/>
                  </a:lnTo>
                  <a:lnTo>
                    <a:pt x="13677" y="1248473"/>
                  </a:lnTo>
                  <a:lnTo>
                    <a:pt x="11163" y="1245590"/>
                  </a:lnTo>
                  <a:lnTo>
                    <a:pt x="9359" y="1242707"/>
                  </a:lnTo>
                  <a:lnTo>
                    <a:pt x="7200" y="1239837"/>
                  </a:lnTo>
                  <a:lnTo>
                    <a:pt x="5397" y="1236599"/>
                  </a:lnTo>
                  <a:lnTo>
                    <a:pt x="4317" y="1232992"/>
                  </a:lnTo>
                  <a:lnTo>
                    <a:pt x="2882" y="1229753"/>
                  </a:lnTo>
                  <a:lnTo>
                    <a:pt x="1803" y="1226515"/>
                  </a:lnTo>
                  <a:lnTo>
                    <a:pt x="1079" y="1222908"/>
                  </a:lnTo>
                  <a:lnTo>
                    <a:pt x="355" y="1219314"/>
                  </a:lnTo>
                  <a:lnTo>
                    <a:pt x="0" y="1215707"/>
                  </a:lnTo>
                  <a:lnTo>
                    <a:pt x="0" y="1212113"/>
                  </a:lnTo>
                  <a:close/>
                </a:path>
              </a:pathLst>
            </a:custGeom>
            <a:noFill/>
            <a:ln cap="flat" cmpd="sng" w="9525">
              <a:solidFill>
                <a:srgbClr val="BFC0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0"/>
          <p:cNvSpPr txBox="1"/>
          <p:nvPr/>
        </p:nvSpPr>
        <p:spPr>
          <a:xfrm>
            <a:off x="768502" y="2459796"/>
            <a:ext cx="46749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 Communication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297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Short-range wireless data updates using custom service and characteristic UUIDs for secure, efficient transmission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7" name="Google Shape;87;p10"/>
          <p:cNvGrpSpPr/>
          <p:nvPr/>
        </p:nvGrpSpPr>
        <p:grpSpPr>
          <a:xfrm>
            <a:off x="604799" y="3747970"/>
            <a:ext cx="5020310" cy="1276985"/>
            <a:chOff x="604799" y="3747970"/>
            <a:chExt cx="5020310" cy="1276985"/>
          </a:xfrm>
        </p:grpSpPr>
        <p:sp>
          <p:nvSpPr>
            <p:cNvPr id="88" name="Google Shape;88;p10"/>
            <p:cNvSpPr/>
            <p:nvPr/>
          </p:nvSpPr>
          <p:spPr>
            <a:xfrm>
              <a:off x="604799" y="3747970"/>
              <a:ext cx="5020310" cy="1276985"/>
            </a:xfrm>
            <a:custGeom>
              <a:rect b="b" l="l" r="r" t="t"/>
              <a:pathLst>
                <a:path extrusionOk="0" h="1276985" w="5020310">
                  <a:moveTo>
                    <a:pt x="4968354" y="0"/>
                  </a:moveTo>
                  <a:lnTo>
                    <a:pt x="51485" y="0"/>
                  </a:lnTo>
                  <a:lnTo>
                    <a:pt x="47879" y="355"/>
                  </a:lnTo>
                  <a:lnTo>
                    <a:pt x="40678" y="1803"/>
                  </a:lnTo>
                  <a:lnTo>
                    <a:pt x="30594" y="5397"/>
                  </a:lnTo>
                  <a:lnTo>
                    <a:pt x="27355" y="7200"/>
                  </a:lnTo>
                  <a:lnTo>
                    <a:pt x="24485" y="9359"/>
                  </a:lnTo>
                  <a:lnTo>
                    <a:pt x="21234" y="11163"/>
                  </a:lnTo>
                  <a:lnTo>
                    <a:pt x="16205" y="16205"/>
                  </a:lnTo>
                  <a:lnTo>
                    <a:pt x="13322" y="18719"/>
                  </a:lnTo>
                  <a:lnTo>
                    <a:pt x="9004" y="24485"/>
                  </a:lnTo>
                  <a:lnTo>
                    <a:pt x="5397" y="30594"/>
                  </a:lnTo>
                  <a:lnTo>
                    <a:pt x="2514" y="37439"/>
                  </a:lnTo>
                  <a:lnTo>
                    <a:pt x="355" y="47878"/>
                  </a:lnTo>
                  <a:lnTo>
                    <a:pt x="0" y="51485"/>
                  </a:lnTo>
                  <a:lnTo>
                    <a:pt x="0" y="1221473"/>
                  </a:lnTo>
                  <a:lnTo>
                    <a:pt x="0" y="1225080"/>
                  </a:lnTo>
                  <a:lnTo>
                    <a:pt x="16205" y="1260360"/>
                  </a:lnTo>
                  <a:lnTo>
                    <a:pt x="21234" y="1265402"/>
                  </a:lnTo>
                  <a:lnTo>
                    <a:pt x="24485" y="1267193"/>
                  </a:lnTo>
                  <a:lnTo>
                    <a:pt x="27355" y="1269364"/>
                  </a:lnTo>
                  <a:lnTo>
                    <a:pt x="30594" y="1271155"/>
                  </a:lnTo>
                  <a:lnTo>
                    <a:pt x="33845" y="1272603"/>
                  </a:lnTo>
                  <a:lnTo>
                    <a:pt x="40678" y="1274762"/>
                  </a:lnTo>
                  <a:lnTo>
                    <a:pt x="47879" y="1276197"/>
                  </a:lnTo>
                  <a:lnTo>
                    <a:pt x="51485" y="1276553"/>
                  </a:lnTo>
                  <a:lnTo>
                    <a:pt x="4968354" y="1276553"/>
                  </a:lnTo>
                  <a:lnTo>
                    <a:pt x="4995354" y="1267193"/>
                  </a:lnTo>
                  <a:lnTo>
                    <a:pt x="4998237" y="1265402"/>
                  </a:lnTo>
                  <a:lnTo>
                    <a:pt x="5001120" y="1262875"/>
                  </a:lnTo>
                  <a:lnTo>
                    <a:pt x="5008676" y="1254963"/>
                  </a:lnTo>
                  <a:lnTo>
                    <a:pt x="5010480" y="1252080"/>
                  </a:lnTo>
                  <a:lnTo>
                    <a:pt x="5012639" y="1249197"/>
                  </a:lnTo>
                  <a:lnTo>
                    <a:pt x="5014442" y="1245958"/>
                  </a:lnTo>
                  <a:lnTo>
                    <a:pt x="5018036" y="1235875"/>
                  </a:lnTo>
                  <a:lnTo>
                    <a:pt x="5019484" y="1228674"/>
                  </a:lnTo>
                  <a:lnTo>
                    <a:pt x="5019840" y="1225080"/>
                  </a:lnTo>
                  <a:lnTo>
                    <a:pt x="5019840" y="51485"/>
                  </a:lnTo>
                  <a:lnTo>
                    <a:pt x="5019484" y="47878"/>
                  </a:lnTo>
                  <a:lnTo>
                    <a:pt x="5018036" y="40678"/>
                  </a:lnTo>
                  <a:lnTo>
                    <a:pt x="5016957" y="37439"/>
                  </a:lnTo>
                  <a:lnTo>
                    <a:pt x="5015522" y="34201"/>
                  </a:lnTo>
                  <a:lnTo>
                    <a:pt x="5014442" y="30594"/>
                  </a:lnTo>
                  <a:lnTo>
                    <a:pt x="5012639" y="27355"/>
                  </a:lnTo>
                  <a:lnTo>
                    <a:pt x="5010480" y="24485"/>
                  </a:lnTo>
                  <a:lnTo>
                    <a:pt x="5008676" y="21602"/>
                  </a:lnTo>
                  <a:lnTo>
                    <a:pt x="5006162" y="18719"/>
                  </a:lnTo>
                  <a:lnTo>
                    <a:pt x="5001120" y="13677"/>
                  </a:lnTo>
                  <a:lnTo>
                    <a:pt x="4998237" y="11163"/>
                  </a:lnTo>
                  <a:lnTo>
                    <a:pt x="4995354" y="9359"/>
                  </a:lnTo>
                  <a:lnTo>
                    <a:pt x="4992484" y="7200"/>
                  </a:lnTo>
                  <a:lnTo>
                    <a:pt x="4989245" y="5397"/>
                  </a:lnTo>
                  <a:lnTo>
                    <a:pt x="4985639" y="4317"/>
                  </a:lnTo>
                  <a:lnTo>
                    <a:pt x="4982400" y="2882"/>
                  </a:lnTo>
                  <a:lnTo>
                    <a:pt x="4979162" y="1803"/>
                  </a:lnTo>
                  <a:lnTo>
                    <a:pt x="4971961" y="355"/>
                  </a:lnTo>
                  <a:lnTo>
                    <a:pt x="4968354" y="0"/>
                  </a:lnTo>
                  <a:close/>
                </a:path>
              </a:pathLst>
            </a:custGeom>
            <a:solidFill>
              <a:srgbClr val="D9DA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0"/>
            <p:cNvSpPr/>
            <p:nvPr/>
          </p:nvSpPr>
          <p:spPr>
            <a:xfrm>
              <a:off x="604799" y="3747970"/>
              <a:ext cx="5020310" cy="1276985"/>
            </a:xfrm>
            <a:custGeom>
              <a:rect b="b" l="l" r="r" t="t"/>
              <a:pathLst>
                <a:path extrusionOk="0" h="1276985" w="5020310">
                  <a:moveTo>
                    <a:pt x="0" y="1221473"/>
                  </a:moveTo>
                  <a:lnTo>
                    <a:pt x="0" y="55079"/>
                  </a:lnTo>
                  <a:lnTo>
                    <a:pt x="0" y="51485"/>
                  </a:lnTo>
                  <a:lnTo>
                    <a:pt x="355" y="47878"/>
                  </a:lnTo>
                  <a:lnTo>
                    <a:pt x="1079" y="44284"/>
                  </a:lnTo>
                  <a:lnTo>
                    <a:pt x="1803" y="40678"/>
                  </a:lnTo>
                  <a:lnTo>
                    <a:pt x="2514" y="37439"/>
                  </a:lnTo>
                  <a:lnTo>
                    <a:pt x="3962" y="34201"/>
                  </a:lnTo>
                  <a:lnTo>
                    <a:pt x="5397" y="30594"/>
                  </a:lnTo>
                  <a:lnTo>
                    <a:pt x="7200" y="27355"/>
                  </a:lnTo>
                  <a:lnTo>
                    <a:pt x="9004" y="24485"/>
                  </a:lnTo>
                  <a:lnTo>
                    <a:pt x="11163" y="21602"/>
                  </a:lnTo>
                  <a:lnTo>
                    <a:pt x="13322" y="18719"/>
                  </a:lnTo>
                  <a:lnTo>
                    <a:pt x="16205" y="16205"/>
                  </a:lnTo>
                  <a:lnTo>
                    <a:pt x="18719" y="13677"/>
                  </a:lnTo>
                  <a:lnTo>
                    <a:pt x="21234" y="11163"/>
                  </a:lnTo>
                  <a:lnTo>
                    <a:pt x="24485" y="9359"/>
                  </a:lnTo>
                  <a:lnTo>
                    <a:pt x="27355" y="7200"/>
                  </a:lnTo>
                  <a:lnTo>
                    <a:pt x="30594" y="5397"/>
                  </a:lnTo>
                  <a:lnTo>
                    <a:pt x="33845" y="4317"/>
                  </a:lnTo>
                  <a:lnTo>
                    <a:pt x="37439" y="2882"/>
                  </a:lnTo>
                  <a:lnTo>
                    <a:pt x="40678" y="1803"/>
                  </a:lnTo>
                  <a:lnTo>
                    <a:pt x="44284" y="1079"/>
                  </a:lnTo>
                  <a:lnTo>
                    <a:pt x="47879" y="355"/>
                  </a:lnTo>
                  <a:lnTo>
                    <a:pt x="51485" y="0"/>
                  </a:lnTo>
                  <a:lnTo>
                    <a:pt x="55079" y="0"/>
                  </a:lnTo>
                  <a:lnTo>
                    <a:pt x="4964760" y="0"/>
                  </a:lnTo>
                  <a:lnTo>
                    <a:pt x="4968354" y="0"/>
                  </a:lnTo>
                  <a:lnTo>
                    <a:pt x="4971961" y="355"/>
                  </a:lnTo>
                  <a:lnTo>
                    <a:pt x="4975555" y="1079"/>
                  </a:lnTo>
                  <a:lnTo>
                    <a:pt x="4979162" y="1803"/>
                  </a:lnTo>
                  <a:lnTo>
                    <a:pt x="4982400" y="2882"/>
                  </a:lnTo>
                  <a:lnTo>
                    <a:pt x="4985639" y="4317"/>
                  </a:lnTo>
                  <a:lnTo>
                    <a:pt x="4989245" y="5397"/>
                  </a:lnTo>
                  <a:lnTo>
                    <a:pt x="4992484" y="7200"/>
                  </a:lnTo>
                  <a:lnTo>
                    <a:pt x="4995354" y="9359"/>
                  </a:lnTo>
                  <a:lnTo>
                    <a:pt x="4998237" y="11163"/>
                  </a:lnTo>
                  <a:lnTo>
                    <a:pt x="5001120" y="13677"/>
                  </a:lnTo>
                  <a:lnTo>
                    <a:pt x="5003634" y="16205"/>
                  </a:lnTo>
                  <a:lnTo>
                    <a:pt x="5006162" y="18719"/>
                  </a:lnTo>
                  <a:lnTo>
                    <a:pt x="5008676" y="21602"/>
                  </a:lnTo>
                  <a:lnTo>
                    <a:pt x="5010480" y="24485"/>
                  </a:lnTo>
                  <a:lnTo>
                    <a:pt x="5012639" y="27355"/>
                  </a:lnTo>
                  <a:lnTo>
                    <a:pt x="5014442" y="30594"/>
                  </a:lnTo>
                  <a:lnTo>
                    <a:pt x="5015522" y="34201"/>
                  </a:lnTo>
                  <a:lnTo>
                    <a:pt x="5016957" y="37439"/>
                  </a:lnTo>
                  <a:lnTo>
                    <a:pt x="5018036" y="40678"/>
                  </a:lnTo>
                  <a:lnTo>
                    <a:pt x="5018760" y="44284"/>
                  </a:lnTo>
                  <a:lnTo>
                    <a:pt x="5019484" y="47878"/>
                  </a:lnTo>
                  <a:lnTo>
                    <a:pt x="5019840" y="51485"/>
                  </a:lnTo>
                  <a:lnTo>
                    <a:pt x="5019840" y="55079"/>
                  </a:lnTo>
                  <a:lnTo>
                    <a:pt x="5019840" y="1221473"/>
                  </a:lnTo>
                  <a:lnTo>
                    <a:pt x="5019840" y="1225080"/>
                  </a:lnTo>
                  <a:lnTo>
                    <a:pt x="5019484" y="1228674"/>
                  </a:lnTo>
                  <a:lnTo>
                    <a:pt x="5018760" y="1232281"/>
                  </a:lnTo>
                  <a:lnTo>
                    <a:pt x="5018036" y="1235875"/>
                  </a:lnTo>
                  <a:lnTo>
                    <a:pt x="5016957" y="1239113"/>
                  </a:lnTo>
                  <a:lnTo>
                    <a:pt x="5015522" y="1242720"/>
                  </a:lnTo>
                  <a:lnTo>
                    <a:pt x="5014442" y="1245958"/>
                  </a:lnTo>
                  <a:lnTo>
                    <a:pt x="5012639" y="1249197"/>
                  </a:lnTo>
                  <a:lnTo>
                    <a:pt x="5010480" y="1252080"/>
                  </a:lnTo>
                  <a:lnTo>
                    <a:pt x="5008676" y="1254963"/>
                  </a:lnTo>
                  <a:lnTo>
                    <a:pt x="5006162" y="1257833"/>
                  </a:lnTo>
                  <a:lnTo>
                    <a:pt x="5003634" y="1260360"/>
                  </a:lnTo>
                  <a:lnTo>
                    <a:pt x="5001120" y="1262875"/>
                  </a:lnTo>
                  <a:lnTo>
                    <a:pt x="4998237" y="1265402"/>
                  </a:lnTo>
                  <a:lnTo>
                    <a:pt x="4995354" y="1267193"/>
                  </a:lnTo>
                  <a:lnTo>
                    <a:pt x="4992484" y="1269364"/>
                  </a:lnTo>
                  <a:lnTo>
                    <a:pt x="4989245" y="1271155"/>
                  </a:lnTo>
                  <a:lnTo>
                    <a:pt x="4985639" y="1272603"/>
                  </a:lnTo>
                  <a:lnTo>
                    <a:pt x="4982400" y="1273683"/>
                  </a:lnTo>
                  <a:lnTo>
                    <a:pt x="4979162" y="1274762"/>
                  </a:lnTo>
                  <a:lnTo>
                    <a:pt x="4975555" y="1275473"/>
                  </a:lnTo>
                  <a:lnTo>
                    <a:pt x="4971961" y="1276197"/>
                  </a:lnTo>
                  <a:lnTo>
                    <a:pt x="4968354" y="1276553"/>
                  </a:lnTo>
                  <a:lnTo>
                    <a:pt x="4964760" y="1276553"/>
                  </a:lnTo>
                  <a:lnTo>
                    <a:pt x="55079" y="1276553"/>
                  </a:lnTo>
                  <a:lnTo>
                    <a:pt x="51485" y="1276553"/>
                  </a:lnTo>
                  <a:lnTo>
                    <a:pt x="47879" y="1276197"/>
                  </a:lnTo>
                  <a:lnTo>
                    <a:pt x="44284" y="1275473"/>
                  </a:lnTo>
                  <a:lnTo>
                    <a:pt x="40678" y="1274762"/>
                  </a:lnTo>
                  <a:lnTo>
                    <a:pt x="37439" y="1273683"/>
                  </a:lnTo>
                  <a:lnTo>
                    <a:pt x="33845" y="1272603"/>
                  </a:lnTo>
                  <a:lnTo>
                    <a:pt x="30594" y="1271155"/>
                  </a:lnTo>
                  <a:lnTo>
                    <a:pt x="27355" y="1269364"/>
                  </a:lnTo>
                  <a:lnTo>
                    <a:pt x="24485" y="1267193"/>
                  </a:lnTo>
                  <a:lnTo>
                    <a:pt x="21234" y="1265402"/>
                  </a:lnTo>
                  <a:lnTo>
                    <a:pt x="18719" y="1262875"/>
                  </a:lnTo>
                  <a:lnTo>
                    <a:pt x="16205" y="1260360"/>
                  </a:lnTo>
                  <a:lnTo>
                    <a:pt x="13322" y="1257833"/>
                  </a:lnTo>
                  <a:lnTo>
                    <a:pt x="11163" y="1254963"/>
                  </a:lnTo>
                  <a:lnTo>
                    <a:pt x="0" y="1225080"/>
                  </a:lnTo>
                  <a:lnTo>
                    <a:pt x="0" y="1221473"/>
                  </a:lnTo>
                  <a:close/>
                </a:path>
              </a:pathLst>
            </a:custGeom>
            <a:noFill/>
            <a:ln cap="flat" cmpd="sng" w="9525">
              <a:solidFill>
                <a:srgbClr val="BFC0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0"/>
          <p:cNvSpPr txBox="1"/>
          <p:nvPr/>
        </p:nvSpPr>
        <p:spPr>
          <a:xfrm>
            <a:off x="5969063" y="2459796"/>
            <a:ext cx="43752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E-Paper Display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297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2.9" </a:t>
            </a: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GPD2</a:t>
            </a: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-driven screen with full and partial refresh logic for crisp product information visibility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1" name="Google Shape;91;p10"/>
          <p:cNvGrpSpPr/>
          <p:nvPr/>
        </p:nvGrpSpPr>
        <p:grpSpPr>
          <a:xfrm>
            <a:off x="5805360" y="3747970"/>
            <a:ext cx="5020310" cy="1276985"/>
            <a:chOff x="5805360" y="3747970"/>
            <a:chExt cx="5020310" cy="1276985"/>
          </a:xfrm>
        </p:grpSpPr>
        <p:sp>
          <p:nvSpPr>
            <p:cNvPr id="92" name="Google Shape;92;p10"/>
            <p:cNvSpPr/>
            <p:nvPr/>
          </p:nvSpPr>
          <p:spPr>
            <a:xfrm>
              <a:off x="5805360" y="3747970"/>
              <a:ext cx="5020310" cy="1276985"/>
            </a:xfrm>
            <a:custGeom>
              <a:rect b="b" l="l" r="r" t="t"/>
              <a:pathLst>
                <a:path extrusionOk="0" h="1276985" w="5020309">
                  <a:moveTo>
                    <a:pt x="4968354" y="0"/>
                  </a:moveTo>
                  <a:lnTo>
                    <a:pt x="51485" y="0"/>
                  </a:lnTo>
                  <a:lnTo>
                    <a:pt x="47878" y="355"/>
                  </a:lnTo>
                  <a:lnTo>
                    <a:pt x="40678" y="1803"/>
                  </a:lnTo>
                  <a:lnTo>
                    <a:pt x="37439" y="2882"/>
                  </a:lnTo>
                  <a:lnTo>
                    <a:pt x="34201" y="4317"/>
                  </a:lnTo>
                  <a:lnTo>
                    <a:pt x="30594" y="5397"/>
                  </a:lnTo>
                  <a:lnTo>
                    <a:pt x="27355" y="7200"/>
                  </a:lnTo>
                  <a:lnTo>
                    <a:pt x="24485" y="9359"/>
                  </a:lnTo>
                  <a:lnTo>
                    <a:pt x="21602" y="11163"/>
                  </a:lnTo>
                  <a:lnTo>
                    <a:pt x="18719" y="13677"/>
                  </a:lnTo>
                  <a:lnTo>
                    <a:pt x="13677" y="18719"/>
                  </a:lnTo>
                  <a:lnTo>
                    <a:pt x="11163" y="21602"/>
                  </a:lnTo>
                  <a:lnTo>
                    <a:pt x="9359" y="24485"/>
                  </a:lnTo>
                  <a:lnTo>
                    <a:pt x="7200" y="27355"/>
                  </a:lnTo>
                  <a:lnTo>
                    <a:pt x="5397" y="30594"/>
                  </a:lnTo>
                  <a:lnTo>
                    <a:pt x="4317" y="34201"/>
                  </a:lnTo>
                  <a:lnTo>
                    <a:pt x="2882" y="37439"/>
                  </a:lnTo>
                  <a:lnTo>
                    <a:pt x="1803" y="40678"/>
                  </a:lnTo>
                  <a:lnTo>
                    <a:pt x="355" y="47878"/>
                  </a:lnTo>
                  <a:lnTo>
                    <a:pt x="0" y="51485"/>
                  </a:lnTo>
                  <a:lnTo>
                    <a:pt x="0" y="1221473"/>
                  </a:lnTo>
                  <a:lnTo>
                    <a:pt x="0" y="1225080"/>
                  </a:lnTo>
                  <a:lnTo>
                    <a:pt x="9359" y="1252080"/>
                  </a:lnTo>
                  <a:lnTo>
                    <a:pt x="11163" y="1254963"/>
                  </a:lnTo>
                  <a:lnTo>
                    <a:pt x="13677" y="1257833"/>
                  </a:lnTo>
                  <a:lnTo>
                    <a:pt x="21602" y="1265402"/>
                  </a:lnTo>
                  <a:lnTo>
                    <a:pt x="24485" y="1267193"/>
                  </a:lnTo>
                  <a:lnTo>
                    <a:pt x="27355" y="1269364"/>
                  </a:lnTo>
                  <a:lnTo>
                    <a:pt x="51485" y="1276553"/>
                  </a:lnTo>
                  <a:lnTo>
                    <a:pt x="4968354" y="1276553"/>
                  </a:lnTo>
                  <a:lnTo>
                    <a:pt x="4995354" y="1267193"/>
                  </a:lnTo>
                  <a:lnTo>
                    <a:pt x="4998605" y="1265402"/>
                  </a:lnTo>
                  <a:lnTo>
                    <a:pt x="5019484" y="1228674"/>
                  </a:lnTo>
                  <a:lnTo>
                    <a:pt x="5019840" y="1225080"/>
                  </a:lnTo>
                  <a:lnTo>
                    <a:pt x="5019840" y="51485"/>
                  </a:lnTo>
                  <a:lnTo>
                    <a:pt x="5003634" y="16205"/>
                  </a:lnTo>
                  <a:lnTo>
                    <a:pt x="4998605" y="11163"/>
                  </a:lnTo>
                  <a:lnTo>
                    <a:pt x="4995354" y="9359"/>
                  </a:lnTo>
                  <a:lnTo>
                    <a:pt x="4992484" y="7200"/>
                  </a:lnTo>
                  <a:lnTo>
                    <a:pt x="4989245" y="5397"/>
                  </a:lnTo>
                  <a:lnTo>
                    <a:pt x="4979161" y="1803"/>
                  </a:lnTo>
                  <a:lnTo>
                    <a:pt x="4971961" y="355"/>
                  </a:lnTo>
                  <a:lnTo>
                    <a:pt x="4968354" y="0"/>
                  </a:lnTo>
                  <a:close/>
                </a:path>
              </a:pathLst>
            </a:custGeom>
            <a:solidFill>
              <a:srgbClr val="D9DA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0"/>
            <p:cNvSpPr/>
            <p:nvPr/>
          </p:nvSpPr>
          <p:spPr>
            <a:xfrm>
              <a:off x="5805360" y="3747970"/>
              <a:ext cx="5020310" cy="1276985"/>
            </a:xfrm>
            <a:custGeom>
              <a:rect b="b" l="l" r="r" t="t"/>
              <a:pathLst>
                <a:path extrusionOk="0" h="1276985" w="5020309">
                  <a:moveTo>
                    <a:pt x="0" y="1221473"/>
                  </a:moveTo>
                  <a:lnTo>
                    <a:pt x="0" y="55079"/>
                  </a:lnTo>
                  <a:lnTo>
                    <a:pt x="0" y="51485"/>
                  </a:lnTo>
                  <a:lnTo>
                    <a:pt x="355" y="47878"/>
                  </a:lnTo>
                  <a:lnTo>
                    <a:pt x="1079" y="44284"/>
                  </a:lnTo>
                  <a:lnTo>
                    <a:pt x="1803" y="40678"/>
                  </a:lnTo>
                  <a:lnTo>
                    <a:pt x="2882" y="37439"/>
                  </a:lnTo>
                  <a:lnTo>
                    <a:pt x="4317" y="34201"/>
                  </a:lnTo>
                  <a:lnTo>
                    <a:pt x="5397" y="30594"/>
                  </a:lnTo>
                  <a:lnTo>
                    <a:pt x="7200" y="27355"/>
                  </a:lnTo>
                  <a:lnTo>
                    <a:pt x="9359" y="24485"/>
                  </a:lnTo>
                  <a:lnTo>
                    <a:pt x="11163" y="21602"/>
                  </a:lnTo>
                  <a:lnTo>
                    <a:pt x="13677" y="18719"/>
                  </a:lnTo>
                  <a:lnTo>
                    <a:pt x="16205" y="16205"/>
                  </a:lnTo>
                  <a:lnTo>
                    <a:pt x="18719" y="13677"/>
                  </a:lnTo>
                  <a:lnTo>
                    <a:pt x="21602" y="11163"/>
                  </a:lnTo>
                  <a:lnTo>
                    <a:pt x="24485" y="9359"/>
                  </a:lnTo>
                  <a:lnTo>
                    <a:pt x="27355" y="7200"/>
                  </a:lnTo>
                  <a:lnTo>
                    <a:pt x="30594" y="5397"/>
                  </a:lnTo>
                  <a:lnTo>
                    <a:pt x="34201" y="4317"/>
                  </a:lnTo>
                  <a:lnTo>
                    <a:pt x="37439" y="2882"/>
                  </a:lnTo>
                  <a:lnTo>
                    <a:pt x="40678" y="1803"/>
                  </a:lnTo>
                  <a:lnTo>
                    <a:pt x="44284" y="1079"/>
                  </a:lnTo>
                  <a:lnTo>
                    <a:pt x="47878" y="355"/>
                  </a:lnTo>
                  <a:lnTo>
                    <a:pt x="51485" y="0"/>
                  </a:lnTo>
                  <a:lnTo>
                    <a:pt x="55079" y="0"/>
                  </a:lnTo>
                  <a:lnTo>
                    <a:pt x="4964760" y="0"/>
                  </a:lnTo>
                  <a:lnTo>
                    <a:pt x="4968354" y="0"/>
                  </a:lnTo>
                  <a:lnTo>
                    <a:pt x="4971961" y="355"/>
                  </a:lnTo>
                  <a:lnTo>
                    <a:pt x="4975555" y="1079"/>
                  </a:lnTo>
                  <a:lnTo>
                    <a:pt x="4979161" y="1803"/>
                  </a:lnTo>
                  <a:lnTo>
                    <a:pt x="4982400" y="2882"/>
                  </a:lnTo>
                  <a:lnTo>
                    <a:pt x="4985994" y="4317"/>
                  </a:lnTo>
                  <a:lnTo>
                    <a:pt x="4989245" y="5397"/>
                  </a:lnTo>
                  <a:lnTo>
                    <a:pt x="4992484" y="7200"/>
                  </a:lnTo>
                  <a:lnTo>
                    <a:pt x="4995354" y="9359"/>
                  </a:lnTo>
                  <a:lnTo>
                    <a:pt x="4998605" y="11163"/>
                  </a:lnTo>
                  <a:lnTo>
                    <a:pt x="5001120" y="13677"/>
                  </a:lnTo>
                  <a:lnTo>
                    <a:pt x="5003634" y="16205"/>
                  </a:lnTo>
                  <a:lnTo>
                    <a:pt x="5006517" y="18719"/>
                  </a:lnTo>
                  <a:lnTo>
                    <a:pt x="5008676" y="21602"/>
                  </a:lnTo>
                  <a:lnTo>
                    <a:pt x="5010835" y="24485"/>
                  </a:lnTo>
                  <a:lnTo>
                    <a:pt x="5012639" y="27355"/>
                  </a:lnTo>
                  <a:lnTo>
                    <a:pt x="5014442" y="30594"/>
                  </a:lnTo>
                  <a:lnTo>
                    <a:pt x="5015877" y="34201"/>
                  </a:lnTo>
                  <a:lnTo>
                    <a:pt x="5017325" y="37439"/>
                  </a:lnTo>
                  <a:lnTo>
                    <a:pt x="5018036" y="40678"/>
                  </a:lnTo>
                  <a:lnTo>
                    <a:pt x="5018760" y="44284"/>
                  </a:lnTo>
                  <a:lnTo>
                    <a:pt x="5019484" y="47878"/>
                  </a:lnTo>
                  <a:lnTo>
                    <a:pt x="5019840" y="51485"/>
                  </a:lnTo>
                  <a:lnTo>
                    <a:pt x="5019840" y="55079"/>
                  </a:lnTo>
                  <a:lnTo>
                    <a:pt x="5019840" y="1221473"/>
                  </a:lnTo>
                  <a:lnTo>
                    <a:pt x="5019840" y="1225080"/>
                  </a:lnTo>
                  <a:lnTo>
                    <a:pt x="5019484" y="1228674"/>
                  </a:lnTo>
                  <a:lnTo>
                    <a:pt x="5003634" y="1260360"/>
                  </a:lnTo>
                  <a:lnTo>
                    <a:pt x="5001120" y="1262875"/>
                  </a:lnTo>
                  <a:lnTo>
                    <a:pt x="4998605" y="1265402"/>
                  </a:lnTo>
                  <a:lnTo>
                    <a:pt x="4995354" y="1267193"/>
                  </a:lnTo>
                  <a:lnTo>
                    <a:pt x="4992484" y="1269364"/>
                  </a:lnTo>
                  <a:lnTo>
                    <a:pt x="4989245" y="1271155"/>
                  </a:lnTo>
                  <a:lnTo>
                    <a:pt x="4985994" y="1272603"/>
                  </a:lnTo>
                  <a:lnTo>
                    <a:pt x="4982400" y="1273683"/>
                  </a:lnTo>
                  <a:lnTo>
                    <a:pt x="4979161" y="1274762"/>
                  </a:lnTo>
                  <a:lnTo>
                    <a:pt x="4975555" y="1275473"/>
                  </a:lnTo>
                  <a:lnTo>
                    <a:pt x="4971961" y="1276197"/>
                  </a:lnTo>
                  <a:lnTo>
                    <a:pt x="4968354" y="1276553"/>
                  </a:lnTo>
                  <a:lnTo>
                    <a:pt x="4964760" y="1276553"/>
                  </a:lnTo>
                  <a:lnTo>
                    <a:pt x="55079" y="1276553"/>
                  </a:lnTo>
                  <a:lnTo>
                    <a:pt x="51485" y="1276553"/>
                  </a:lnTo>
                  <a:lnTo>
                    <a:pt x="47878" y="1276197"/>
                  </a:lnTo>
                  <a:lnTo>
                    <a:pt x="44284" y="1275473"/>
                  </a:lnTo>
                  <a:lnTo>
                    <a:pt x="40678" y="1274762"/>
                  </a:lnTo>
                  <a:lnTo>
                    <a:pt x="37439" y="1273683"/>
                  </a:lnTo>
                  <a:lnTo>
                    <a:pt x="34201" y="1272603"/>
                  </a:lnTo>
                  <a:lnTo>
                    <a:pt x="30594" y="1271155"/>
                  </a:lnTo>
                  <a:lnTo>
                    <a:pt x="27355" y="1269364"/>
                  </a:lnTo>
                  <a:lnTo>
                    <a:pt x="24485" y="1267193"/>
                  </a:lnTo>
                  <a:lnTo>
                    <a:pt x="21602" y="1265402"/>
                  </a:lnTo>
                  <a:lnTo>
                    <a:pt x="18719" y="1262875"/>
                  </a:lnTo>
                  <a:lnTo>
                    <a:pt x="16205" y="1260360"/>
                  </a:lnTo>
                  <a:lnTo>
                    <a:pt x="13677" y="1257833"/>
                  </a:lnTo>
                  <a:lnTo>
                    <a:pt x="11163" y="1254963"/>
                  </a:lnTo>
                  <a:lnTo>
                    <a:pt x="9359" y="1252080"/>
                  </a:lnTo>
                  <a:lnTo>
                    <a:pt x="7200" y="1249197"/>
                  </a:lnTo>
                  <a:lnTo>
                    <a:pt x="5397" y="1245958"/>
                  </a:lnTo>
                  <a:lnTo>
                    <a:pt x="4317" y="1242720"/>
                  </a:lnTo>
                  <a:lnTo>
                    <a:pt x="2882" y="1239113"/>
                  </a:lnTo>
                  <a:lnTo>
                    <a:pt x="1803" y="1235875"/>
                  </a:lnTo>
                  <a:lnTo>
                    <a:pt x="1079" y="1232281"/>
                  </a:lnTo>
                  <a:lnTo>
                    <a:pt x="355" y="1228674"/>
                  </a:lnTo>
                  <a:lnTo>
                    <a:pt x="0" y="1225080"/>
                  </a:lnTo>
                  <a:lnTo>
                    <a:pt x="0" y="1221473"/>
                  </a:lnTo>
                  <a:close/>
                </a:path>
              </a:pathLst>
            </a:custGeom>
            <a:noFill/>
            <a:ln cap="flat" cmpd="sng" w="9525">
              <a:solidFill>
                <a:srgbClr val="BFC0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0"/>
          <p:cNvSpPr txBox="1"/>
          <p:nvPr/>
        </p:nvSpPr>
        <p:spPr>
          <a:xfrm>
            <a:off x="768502" y="3907710"/>
            <a:ext cx="46995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Flash Storage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2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NVS-based persistent data retention ensures label content survives power cycles and reboots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0"/>
          <p:cNvSpPr txBox="1"/>
          <p:nvPr/>
        </p:nvSpPr>
        <p:spPr>
          <a:xfrm>
            <a:off x="5969063" y="3907710"/>
            <a:ext cx="43581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Sleep Mode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2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Ultra-low power consumption with RTC timer wake-up extends battery life to weeks or months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0" y="9"/>
            <a:ext cx="11430000" cy="6439535"/>
          </a:xfrm>
          <a:custGeom>
            <a:rect b="b" l="l" r="r" t="t"/>
            <a:pathLst>
              <a:path extrusionOk="0" h="6439535" w="11430000">
                <a:moveTo>
                  <a:pt x="11429644" y="0"/>
                </a:moveTo>
                <a:lnTo>
                  <a:pt x="0" y="0"/>
                </a:lnTo>
                <a:lnTo>
                  <a:pt x="0" y="6439319"/>
                </a:lnTo>
                <a:lnTo>
                  <a:pt x="11429644" y="6439319"/>
                </a:lnTo>
                <a:lnTo>
                  <a:pt x="114296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" name="Google Shape;101;p11"/>
          <p:cNvGrpSpPr/>
          <p:nvPr/>
        </p:nvGrpSpPr>
        <p:grpSpPr>
          <a:xfrm>
            <a:off x="609485" y="1904412"/>
            <a:ext cx="5011420" cy="2030095"/>
            <a:chOff x="609485" y="1904412"/>
            <a:chExt cx="5011420" cy="2030095"/>
          </a:xfrm>
        </p:grpSpPr>
        <p:sp>
          <p:nvSpPr>
            <p:cNvPr id="102" name="Google Shape;102;p11"/>
            <p:cNvSpPr/>
            <p:nvPr/>
          </p:nvSpPr>
          <p:spPr>
            <a:xfrm>
              <a:off x="609485" y="1904412"/>
              <a:ext cx="5011420" cy="2030095"/>
            </a:xfrm>
            <a:custGeom>
              <a:rect b="b" l="l" r="r" t="t"/>
              <a:pathLst>
                <a:path extrusionOk="0" h="2030095" w="5011420">
                  <a:moveTo>
                    <a:pt x="0" y="2018157"/>
                  </a:moveTo>
                  <a:lnTo>
                    <a:pt x="0" y="12242"/>
                  </a:lnTo>
                  <a:lnTo>
                    <a:pt x="0" y="8636"/>
                  </a:lnTo>
                  <a:lnTo>
                    <a:pt x="1079" y="6121"/>
                  </a:lnTo>
                  <a:lnTo>
                    <a:pt x="3238" y="3962"/>
                  </a:lnTo>
                  <a:lnTo>
                    <a:pt x="5397" y="1079"/>
                  </a:lnTo>
                  <a:lnTo>
                    <a:pt x="8635" y="0"/>
                  </a:lnTo>
                  <a:lnTo>
                    <a:pt x="11874" y="0"/>
                  </a:lnTo>
                  <a:lnTo>
                    <a:pt x="4998593" y="0"/>
                  </a:lnTo>
                  <a:lnTo>
                    <a:pt x="5001831" y="0"/>
                  </a:lnTo>
                  <a:lnTo>
                    <a:pt x="5005070" y="1079"/>
                  </a:lnTo>
                  <a:lnTo>
                    <a:pt x="5006873" y="3962"/>
                  </a:lnTo>
                  <a:lnTo>
                    <a:pt x="5009388" y="6121"/>
                  </a:lnTo>
                  <a:lnTo>
                    <a:pt x="5010835" y="8636"/>
                  </a:lnTo>
                  <a:lnTo>
                    <a:pt x="5010835" y="12242"/>
                  </a:lnTo>
                  <a:lnTo>
                    <a:pt x="5010835" y="2018157"/>
                  </a:lnTo>
                  <a:lnTo>
                    <a:pt x="5010835" y="2021395"/>
                  </a:lnTo>
                  <a:lnTo>
                    <a:pt x="5009388" y="2024278"/>
                  </a:lnTo>
                  <a:lnTo>
                    <a:pt x="5006873" y="2026437"/>
                  </a:lnTo>
                  <a:lnTo>
                    <a:pt x="5005070" y="2028952"/>
                  </a:lnTo>
                  <a:lnTo>
                    <a:pt x="5001831" y="2030031"/>
                  </a:lnTo>
                  <a:lnTo>
                    <a:pt x="4998593" y="2030031"/>
                  </a:lnTo>
                  <a:lnTo>
                    <a:pt x="11874" y="2030031"/>
                  </a:lnTo>
                  <a:lnTo>
                    <a:pt x="8635" y="2030031"/>
                  </a:lnTo>
                  <a:lnTo>
                    <a:pt x="5397" y="2028952"/>
                  </a:lnTo>
                  <a:lnTo>
                    <a:pt x="3238" y="2026437"/>
                  </a:lnTo>
                  <a:lnTo>
                    <a:pt x="1079" y="2024278"/>
                  </a:lnTo>
                  <a:lnTo>
                    <a:pt x="0" y="2021395"/>
                  </a:lnTo>
                  <a:lnTo>
                    <a:pt x="0" y="2018157"/>
                  </a:lnTo>
                  <a:close/>
                </a:path>
              </a:pathLst>
            </a:custGeom>
            <a:noFill/>
            <a:ln cap="flat" cmpd="sng" w="18350">
              <a:solidFill>
                <a:srgbClr val="D7D3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818629" y="2581208"/>
              <a:ext cx="58419" cy="1058545"/>
            </a:xfrm>
            <a:custGeom>
              <a:rect b="b" l="l" r="r" t="t"/>
              <a:pathLst>
                <a:path extrusionOk="0" h="1058545" w="58419">
                  <a:moveTo>
                    <a:pt x="58331" y="1024559"/>
                  </a:moveTo>
                  <a:lnTo>
                    <a:pt x="49326" y="1008367"/>
                  </a:lnTo>
                  <a:lnTo>
                    <a:pt x="47167" y="1005840"/>
                  </a:lnTo>
                  <a:lnTo>
                    <a:pt x="43929" y="1003681"/>
                  </a:lnTo>
                  <a:lnTo>
                    <a:pt x="36728" y="1000442"/>
                  </a:lnTo>
                  <a:lnTo>
                    <a:pt x="33489" y="1000086"/>
                  </a:lnTo>
                  <a:lnTo>
                    <a:pt x="25565" y="1000086"/>
                  </a:lnTo>
                  <a:lnTo>
                    <a:pt x="22326" y="1000442"/>
                  </a:lnTo>
                  <a:lnTo>
                    <a:pt x="18732" y="1002245"/>
                  </a:lnTo>
                  <a:lnTo>
                    <a:pt x="14414" y="1003681"/>
                  </a:lnTo>
                  <a:lnTo>
                    <a:pt x="11531" y="1005840"/>
                  </a:lnTo>
                  <a:lnTo>
                    <a:pt x="9017" y="1008367"/>
                  </a:lnTo>
                  <a:lnTo>
                    <a:pt x="6121" y="1010881"/>
                  </a:lnTo>
                  <a:lnTo>
                    <a:pt x="3975" y="1014120"/>
                  </a:lnTo>
                  <a:lnTo>
                    <a:pt x="2159" y="1017727"/>
                  </a:lnTo>
                  <a:lnTo>
                    <a:pt x="0" y="1024559"/>
                  </a:lnTo>
                  <a:lnTo>
                    <a:pt x="0" y="1032840"/>
                  </a:lnTo>
                  <a:lnTo>
                    <a:pt x="2159" y="1040041"/>
                  </a:lnTo>
                  <a:lnTo>
                    <a:pt x="6121" y="1046162"/>
                  </a:lnTo>
                  <a:lnTo>
                    <a:pt x="14414" y="1054442"/>
                  </a:lnTo>
                  <a:lnTo>
                    <a:pt x="25565" y="1058037"/>
                  </a:lnTo>
                  <a:lnTo>
                    <a:pt x="33489" y="1058037"/>
                  </a:lnTo>
                  <a:lnTo>
                    <a:pt x="36728" y="1056957"/>
                  </a:lnTo>
                  <a:lnTo>
                    <a:pt x="40690" y="1055878"/>
                  </a:lnTo>
                  <a:lnTo>
                    <a:pt x="43929" y="1054442"/>
                  </a:lnTo>
                  <a:lnTo>
                    <a:pt x="47167" y="1051560"/>
                  </a:lnTo>
                  <a:lnTo>
                    <a:pt x="49326" y="1049045"/>
                  </a:lnTo>
                  <a:lnTo>
                    <a:pt x="52209" y="1046162"/>
                  </a:lnTo>
                  <a:lnTo>
                    <a:pt x="56172" y="1040041"/>
                  </a:lnTo>
                  <a:lnTo>
                    <a:pt x="57607" y="1036447"/>
                  </a:lnTo>
                  <a:lnTo>
                    <a:pt x="58331" y="1032840"/>
                  </a:lnTo>
                  <a:lnTo>
                    <a:pt x="58331" y="1028522"/>
                  </a:lnTo>
                  <a:lnTo>
                    <a:pt x="58331" y="1024559"/>
                  </a:lnTo>
                  <a:close/>
                </a:path>
                <a:path extrusionOk="0" h="1058545" w="58419">
                  <a:moveTo>
                    <a:pt x="58331" y="691921"/>
                  </a:moveTo>
                  <a:lnTo>
                    <a:pt x="57607" y="687603"/>
                  </a:lnTo>
                  <a:lnTo>
                    <a:pt x="54368" y="680402"/>
                  </a:lnTo>
                  <a:lnTo>
                    <a:pt x="52209" y="677164"/>
                  </a:lnTo>
                  <a:lnTo>
                    <a:pt x="49326" y="675005"/>
                  </a:lnTo>
                  <a:lnTo>
                    <a:pt x="47167" y="672122"/>
                  </a:lnTo>
                  <a:lnTo>
                    <a:pt x="43929" y="669963"/>
                  </a:lnTo>
                  <a:lnTo>
                    <a:pt x="40690" y="668883"/>
                  </a:lnTo>
                  <a:lnTo>
                    <a:pt x="36728" y="667080"/>
                  </a:lnTo>
                  <a:lnTo>
                    <a:pt x="33489" y="666724"/>
                  </a:lnTo>
                  <a:lnTo>
                    <a:pt x="25565" y="666724"/>
                  </a:lnTo>
                  <a:lnTo>
                    <a:pt x="22326" y="667080"/>
                  </a:lnTo>
                  <a:lnTo>
                    <a:pt x="18732" y="668883"/>
                  </a:lnTo>
                  <a:lnTo>
                    <a:pt x="14414" y="669963"/>
                  </a:lnTo>
                  <a:lnTo>
                    <a:pt x="11531" y="672122"/>
                  </a:lnTo>
                  <a:lnTo>
                    <a:pt x="9017" y="675005"/>
                  </a:lnTo>
                  <a:lnTo>
                    <a:pt x="6121" y="677164"/>
                  </a:lnTo>
                  <a:lnTo>
                    <a:pt x="3975" y="680402"/>
                  </a:lnTo>
                  <a:lnTo>
                    <a:pt x="2159" y="684364"/>
                  </a:lnTo>
                  <a:lnTo>
                    <a:pt x="1092" y="687603"/>
                  </a:lnTo>
                  <a:lnTo>
                    <a:pt x="0" y="691921"/>
                  </a:lnTo>
                  <a:lnTo>
                    <a:pt x="0" y="699122"/>
                  </a:lnTo>
                  <a:lnTo>
                    <a:pt x="9017" y="716038"/>
                  </a:lnTo>
                  <a:lnTo>
                    <a:pt x="11531" y="718921"/>
                  </a:lnTo>
                  <a:lnTo>
                    <a:pt x="14414" y="720356"/>
                  </a:lnTo>
                  <a:lnTo>
                    <a:pt x="22326" y="723595"/>
                  </a:lnTo>
                  <a:lnTo>
                    <a:pt x="25565" y="724319"/>
                  </a:lnTo>
                  <a:lnTo>
                    <a:pt x="33489" y="724319"/>
                  </a:lnTo>
                  <a:lnTo>
                    <a:pt x="36728" y="723595"/>
                  </a:lnTo>
                  <a:lnTo>
                    <a:pt x="40690" y="722160"/>
                  </a:lnTo>
                  <a:lnTo>
                    <a:pt x="43929" y="720356"/>
                  </a:lnTo>
                  <a:lnTo>
                    <a:pt x="47167" y="718921"/>
                  </a:lnTo>
                  <a:lnTo>
                    <a:pt x="49326" y="716038"/>
                  </a:lnTo>
                  <a:lnTo>
                    <a:pt x="52209" y="713155"/>
                  </a:lnTo>
                  <a:lnTo>
                    <a:pt x="54368" y="709561"/>
                  </a:lnTo>
                  <a:lnTo>
                    <a:pt x="56172" y="706323"/>
                  </a:lnTo>
                  <a:lnTo>
                    <a:pt x="57607" y="703084"/>
                  </a:lnTo>
                  <a:lnTo>
                    <a:pt x="58331" y="699122"/>
                  </a:lnTo>
                  <a:lnTo>
                    <a:pt x="58331" y="695159"/>
                  </a:lnTo>
                  <a:lnTo>
                    <a:pt x="58331" y="691921"/>
                  </a:lnTo>
                  <a:close/>
                </a:path>
                <a:path extrusionOk="0" h="1058545" w="58419">
                  <a:moveTo>
                    <a:pt x="58331" y="358559"/>
                  </a:moveTo>
                  <a:lnTo>
                    <a:pt x="57607" y="354596"/>
                  </a:lnTo>
                  <a:lnTo>
                    <a:pt x="54368" y="347040"/>
                  </a:lnTo>
                  <a:lnTo>
                    <a:pt x="52209" y="343801"/>
                  </a:lnTo>
                  <a:lnTo>
                    <a:pt x="49326" y="341642"/>
                  </a:lnTo>
                  <a:lnTo>
                    <a:pt x="47167" y="338759"/>
                  </a:lnTo>
                  <a:lnTo>
                    <a:pt x="43929" y="336600"/>
                  </a:lnTo>
                  <a:lnTo>
                    <a:pt x="36728" y="334086"/>
                  </a:lnTo>
                  <a:lnTo>
                    <a:pt x="33489" y="333362"/>
                  </a:lnTo>
                  <a:lnTo>
                    <a:pt x="25565" y="333362"/>
                  </a:lnTo>
                  <a:lnTo>
                    <a:pt x="22326" y="334086"/>
                  </a:lnTo>
                  <a:lnTo>
                    <a:pt x="18732" y="335521"/>
                  </a:lnTo>
                  <a:lnTo>
                    <a:pt x="14414" y="336600"/>
                  </a:lnTo>
                  <a:lnTo>
                    <a:pt x="11531" y="338759"/>
                  </a:lnTo>
                  <a:lnTo>
                    <a:pt x="9017" y="341642"/>
                  </a:lnTo>
                  <a:lnTo>
                    <a:pt x="6121" y="343801"/>
                  </a:lnTo>
                  <a:lnTo>
                    <a:pt x="3975" y="347040"/>
                  </a:lnTo>
                  <a:lnTo>
                    <a:pt x="2159" y="351358"/>
                  </a:lnTo>
                  <a:lnTo>
                    <a:pt x="1092" y="354596"/>
                  </a:lnTo>
                  <a:lnTo>
                    <a:pt x="0" y="358559"/>
                  </a:lnTo>
                  <a:lnTo>
                    <a:pt x="0" y="366115"/>
                  </a:lnTo>
                  <a:lnTo>
                    <a:pt x="9017" y="382676"/>
                  </a:lnTo>
                  <a:lnTo>
                    <a:pt x="11531" y="385559"/>
                  </a:lnTo>
                  <a:lnTo>
                    <a:pt x="14414" y="387362"/>
                  </a:lnTo>
                  <a:lnTo>
                    <a:pt x="25565" y="390956"/>
                  </a:lnTo>
                  <a:lnTo>
                    <a:pt x="33489" y="390956"/>
                  </a:lnTo>
                  <a:lnTo>
                    <a:pt x="36728" y="389877"/>
                  </a:lnTo>
                  <a:lnTo>
                    <a:pt x="40690" y="388797"/>
                  </a:lnTo>
                  <a:lnTo>
                    <a:pt x="43929" y="387362"/>
                  </a:lnTo>
                  <a:lnTo>
                    <a:pt x="47167" y="385559"/>
                  </a:lnTo>
                  <a:lnTo>
                    <a:pt x="49326" y="382676"/>
                  </a:lnTo>
                  <a:lnTo>
                    <a:pt x="52209" y="380161"/>
                  </a:lnTo>
                  <a:lnTo>
                    <a:pt x="54368" y="376555"/>
                  </a:lnTo>
                  <a:lnTo>
                    <a:pt x="56172" y="373316"/>
                  </a:lnTo>
                  <a:lnTo>
                    <a:pt x="57607" y="370078"/>
                  </a:lnTo>
                  <a:lnTo>
                    <a:pt x="58331" y="366115"/>
                  </a:lnTo>
                  <a:lnTo>
                    <a:pt x="58331" y="362521"/>
                  </a:lnTo>
                  <a:lnTo>
                    <a:pt x="58331" y="358559"/>
                  </a:lnTo>
                  <a:close/>
                </a:path>
                <a:path extrusionOk="0" h="1058545" w="58419">
                  <a:moveTo>
                    <a:pt x="58331" y="25196"/>
                  </a:moveTo>
                  <a:lnTo>
                    <a:pt x="49326" y="8636"/>
                  </a:lnTo>
                  <a:lnTo>
                    <a:pt x="47167" y="5765"/>
                  </a:lnTo>
                  <a:lnTo>
                    <a:pt x="43929" y="3606"/>
                  </a:lnTo>
                  <a:lnTo>
                    <a:pt x="40690" y="1803"/>
                  </a:lnTo>
                  <a:lnTo>
                    <a:pt x="36728" y="723"/>
                  </a:lnTo>
                  <a:lnTo>
                    <a:pt x="33489" y="0"/>
                  </a:lnTo>
                  <a:lnTo>
                    <a:pt x="25565" y="0"/>
                  </a:lnTo>
                  <a:lnTo>
                    <a:pt x="9017" y="8636"/>
                  </a:lnTo>
                  <a:lnTo>
                    <a:pt x="6121" y="11518"/>
                  </a:lnTo>
                  <a:lnTo>
                    <a:pt x="3975" y="14757"/>
                  </a:lnTo>
                  <a:lnTo>
                    <a:pt x="2159" y="17995"/>
                  </a:lnTo>
                  <a:lnTo>
                    <a:pt x="0" y="25196"/>
                  </a:lnTo>
                  <a:lnTo>
                    <a:pt x="0" y="33121"/>
                  </a:lnTo>
                  <a:lnTo>
                    <a:pt x="9017" y="48958"/>
                  </a:lnTo>
                  <a:lnTo>
                    <a:pt x="11531" y="52197"/>
                  </a:lnTo>
                  <a:lnTo>
                    <a:pt x="14414" y="54000"/>
                  </a:lnTo>
                  <a:lnTo>
                    <a:pt x="18732" y="55079"/>
                  </a:lnTo>
                  <a:lnTo>
                    <a:pt x="22326" y="56515"/>
                  </a:lnTo>
                  <a:lnTo>
                    <a:pt x="25565" y="57238"/>
                  </a:lnTo>
                  <a:lnTo>
                    <a:pt x="33489" y="57238"/>
                  </a:lnTo>
                  <a:lnTo>
                    <a:pt x="36728" y="56515"/>
                  </a:lnTo>
                  <a:lnTo>
                    <a:pt x="43929" y="54000"/>
                  </a:lnTo>
                  <a:lnTo>
                    <a:pt x="47167" y="52197"/>
                  </a:lnTo>
                  <a:lnTo>
                    <a:pt x="49326" y="48958"/>
                  </a:lnTo>
                  <a:lnTo>
                    <a:pt x="52209" y="46799"/>
                  </a:lnTo>
                  <a:lnTo>
                    <a:pt x="54368" y="43561"/>
                  </a:lnTo>
                  <a:lnTo>
                    <a:pt x="56172" y="39598"/>
                  </a:lnTo>
                  <a:lnTo>
                    <a:pt x="57607" y="36715"/>
                  </a:lnTo>
                  <a:lnTo>
                    <a:pt x="58331" y="33121"/>
                  </a:lnTo>
                  <a:lnTo>
                    <a:pt x="58331" y="29159"/>
                  </a:lnTo>
                  <a:lnTo>
                    <a:pt x="58331" y="25196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1"/>
          <p:cNvSpPr txBox="1"/>
          <p:nvPr>
            <p:ph type="title"/>
          </p:nvPr>
        </p:nvSpPr>
        <p:spPr>
          <a:xfrm>
            <a:off x="580675" y="523283"/>
            <a:ext cx="101622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&amp; Software Requirements</a:t>
            </a: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5" name="Google Shape;105;p11"/>
          <p:cNvGrpSpPr/>
          <p:nvPr/>
        </p:nvGrpSpPr>
        <p:grpSpPr>
          <a:xfrm>
            <a:off x="5809678" y="1904412"/>
            <a:ext cx="5011420" cy="2030095"/>
            <a:chOff x="5809678" y="1904412"/>
            <a:chExt cx="5011420" cy="2030095"/>
          </a:xfrm>
        </p:grpSpPr>
        <p:sp>
          <p:nvSpPr>
            <p:cNvPr id="106" name="Google Shape;106;p11"/>
            <p:cNvSpPr/>
            <p:nvPr/>
          </p:nvSpPr>
          <p:spPr>
            <a:xfrm>
              <a:off x="5809678" y="1904412"/>
              <a:ext cx="5011420" cy="2030095"/>
            </a:xfrm>
            <a:custGeom>
              <a:rect b="b" l="l" r="r" t="t"/>
              <a:pathLst>
                <a:path extrusionOk="0" h="2030095" w="5011420">
                  <a:moveTo>
                    <a:pt x="0" y="2018157"/>
                  </a:moveTo>
                  <a:lnTo>
                    <a:pt x="0" y="12242"/>
                  </a:lnTo>
                  <a:lnTo>
                    <a:pt x="0" y="8636"/>
                  </a:lnTo>
                  <a:lnTo>
                    <a:pt x="1447" y="6121"/>
                  </a:lnTo>
                  <a:lnTo>
                    <a:pt x="3962" y="3962"/>
                  </a:lnTo>
                  <a:lnTo>
                    <a:pt x="5765" y="1079"/>
                  </a:lnTo>
                  <a:lnTo>
                    <a:pt x="9004" y="0"/>
                  </a:lnTo>
                  <a:lnTo>
                    <a:pt x="12242" y="0"/>
                  </a:lnTo>
                  <a:lnTo>
                    <a:pt x="4998961" y="0"/>
                  </a:lnTo>
                  <a:lnTo>
                    <a:pt x="5002199" y="0"/>
                  </a:lnTo>
                  <a:lnTo>
                    <a:pt x="5005438" y="1079"/>
                  </a:lnTo>
                  <a:lnTo>
                    <a:pt x="5007597" y="3962"/>
                  </a:lnTo>
                  <a:lnTo>
                    <a:pt x="5009756" y="6121"/>
                  </a:lnTo>
                  <a:lnTo>
                    <a:pt x="5010835" y="8636"/>
                  </a:lnTo>
                  <a:lnTo>
                    <a:pt x="5010835" y="12242"/>
                  </a:lnTo>
                  <a:lnTo>
                    <a:pt x="5010835" y="2018157"/>
                  </a:lnTo>
                  <a:lnTo>
                    <a:pt x="5010835" y="2021395"/>
                  </a:lnTo>
                  <a:lnTo>
                    <a:pt x="5009756" y="2024278"/>
                  </a:lnTo>
                  <a:lnTo>
                    <a:pt x="5007597" y="2026437"/>
                  </a:lnTo>
                  <a:lnTo>
                    <a:pt x="5005438" y="2028952"/>
                  </a:lnTo>
                  <a:lnTo>
                    <a:pt x="5002199" y="2030031"/>
                  </a:lnTo>
                  <a:lnTo>
                    <a:pt x="4998961" y="2030031"/>
                  </a:lnTo>
                  <a:lnTo>
                    <a:pt x="12242" y="2030031"/>
                  </a:lnTo>
                  <a:lnTo>
                    <a:pt x="9004" y="2030031"/>
                  </a:lnTo>
                  <a:lnTo>
                    <a:pt x="5765" y="2028952"/>
                  </a:lnTo>
                  <a:lnTo>
                    <a:pt x="3962" y="2026437"/>
                  </a:lnTo>
                  <a:lnTo>
                    <a:pt x="1447" y="2024278"/>
                  </a:lnTo>
                  <a:lnTo>
                    <a:pt x="0" y="2021395"/>
                  </a:lnTo>
                  <a:lnTo>
                    <a:pt x="0" y="2018157"/>
                  </a:lnTo>
                  <a:close/>
                </a:path>
              </a:pathLst>
            </a:custGeom>
            <a:noFill/>
            <a:ln cap="flat" cmpd="sng" w="18350">
              <a:solidFill>
                <a:srgbClr val="D7D3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1"/>
            <p:cNvSpPr/>
            <p:nvPr/>
          </p:nvSpPr>
          <p:spPr>
            <a:xfrm>
              <a:off x="6019203" y="2581208"/>
              <a:ext cx="58419" cy="724535"/>
            </a:xfrm>
            <a:custGeom>
              <a:rect b="b" l="l" r="r" t="t"/>
              <a:pathLst>
                <a:path extrusionOk="0" h="724535" w="58420">
                  <a:moveTo>
                    <a:pt x="58318" y="691921"/>
                  </a:moveTo>
                  <a:lnTo>
                    <a:pt x="57238" y="687603"/>
                  </a:lnTo>
                  <a:lnTo>
                    <a:pt x="55435" y="684364"/>
                  </a:lnTo>
                  <a:lnTo>
                    <a:pt x="54000" y="680402"/>
                  </a:lnTo>
                  <a:lnTo>
                    <a:pt x="52197" y="677164"/>
                  </a:lnTo>
                  <a:lnTo>
                    <a:pt x="49682" y="675005"/>
                  </a:lnTo>
                  <a:lnTo>
                    <a:pt x="46799" y="672122"/>
                  </a:lnTo>
                  <a:lnTo>
                    <a:pt x="43561" y="669963"/>
                  </a:lnTo>
                  <a:lnTo>
                    <a:pt x="40322" y="668883"/>
                  </a:lnTo>
                  <a:lnTo>
                    <a:pt x="36360" y="667080"/>
                  </a:lnTo>
                  <a:lnTo>
                    <a:pt x="32397" y="666724"/>
                  </a:lnTo>
                  <a:lnTo>
                    <a:pt x="24841" y="666724"/>
                  </a:lnTo>
                  <a:lnTo>
                    <a:pt x="21602" y="667080"/>
                  </a:lnTo>
                  <a:lnTo>
                    <a:pt x="17640" y="668883"/>
                  </a:lnTo>
                  <a:lnTo>
                    <a:pt x="14401" y="669963"/>
                  </a:lnTo>
                  <a:lnTo>
                    <a:pt x="0" y="691921"/>
                  </a:lnTo>
                  <a:lnTo>
                    <a:pt x="0" y="699122"/>
                  </a:lnTo>
                  <a:lnTo>
                    <a:pt x="14401" y="720356"/>
                  </a:lnTo>
                  <a:lnTo>
                    <a:pt x="17640" y="722160"/>
                  </a:lnTo>
                  <a:lnTo>
                    <a:pt x="21602" y="723595"/>
                  </a:lnTo>
                  <a:lnTo>
                    <a:pt x="24841" y="724319"/>
                  </a:lnTo>
                  <a:lnTo>
                    <a:pt x="32397" y="724319"/>
                  </a:lnTo>
                  <a:lnTo>
                    <a:pt x="36360" y="723595"/>
                  </a:lnTo>
                  <a:lnTo>
                    <a:pt x="40322" y="722160"/>
                  </a:lnTo>
                  <a:lnTo>
                    <a:pt x="43561" y="720356"/>
                  </a:lnTo>
                  <a:lnTo>
                    <a:pt x="46799" y="718921"/>
                  </a:lnTo>
                  <a:lnTo>
                    <a:pt x="49682" y="716038"/>
                  </a:lnTo>
                  <a:lnTo>
                    <a:pt x="52197" y="713155"/>
                  </a:lnTo>
                  <a:lnTo>
                    <a:pt x="54000" y="709561"/>
                  </a:lnTo>
                  <a:lnTo>
                    <a:pt x="55435" y="706323"/>
                  </a:lnTo>
                  <a:lnTo>
                    <a:pt x="57238" y="703084"/>
                  </a:lnTo>
                  <a:lnTo>
                    <a:pt x="58318" y="699122"/>
                  </a:lnTo>
                  <a:lnTo>
                    <a:pt x="58318" y="695159"/>
                  </a:lnTo>
                  <a:lnTo>
                    <a:pt x="58318" y="691921"/>
                  </a:lnTo>
                  <a:close/>
                </a:path>
                <a:path extrusionOk="0" h="724535" w="58420">
                  <a:moveTo>
                    <a:pt x="58318" y="358559"/>
                  </a:moveTo>
                  <a:lnTo>
                    <a:pt x="57238" y="354596"/>
                  </a:lnTo>
                  <a:lnTo>
                    <a:pt x="55435" y="351358"/>
                  </a:lnTo>
                  <a:lnTo>
                    <a:pt x="54000" y="347040"/>
                  </a:lnTo>
                  <a:lnTo>
                    <a:pt x="52197" y="343801"/>
                  </a:lnTo>
                  <a:lnTo>
                    <a:pt x="49682" y="341642"/>
                  </a:lnTo>
                  <a:lnTo>
                    <a:pt x="46799" y="338759"/>
                  </a:lnTo>
                  <a:lnTo>
                    <a:pt x="43561" y="336600"/>
                  </a:lnTo>
                  <a:lnTo>
                    <a:pt x="36360" y="334086"/>
                  </a:lnTo>
                  <a:lnTo>
                    <a:pt x="32397" y="333362"/>
                  </a:lnTo>
                  <a:lnTo>
                    <a:pt x="24841" y="333362"/>
                  </a:lnTo>
                  <a:lnTo>
                    <a:pt x="0" y="358559"/>
                  </a:lnTo>
                  <a:lnTo>
                    <a:pt x="0" y="366115"/>
                  </a:lnTo>
                  <a:lnTo>
                    <a:pt x="21602" y="389877"/>
                  </a:lnTo>
                  <a:lnTo>
                    <a:pt x="24841" y="390956"/>
                  </a:lnTo>
                  <a:lnTo>
                    <a:pt x="32397" y="390956"/>
                  </a:lnTo>
                  <a:lnTo>
                    <a:pt x="40322" y="388797"/>
                  </a:lnTo>
                  <a:lnTo>
                    <a:pt x="55435" y="373316"/>
                  </a:lnTo>
                  <a:lnTo>
                    <a:pt x="57238" y="370078"/>
                  </a:lnTo>
                  <a:lnTo>
                    <a:pt x="58318" y="366115"/>
                  </a:lnTo>
                  <a:lnTo>
                    <a:pt x="58318" y="362521"/>
                  </a:lnTo>
                  <a:lnTo>
                    <a:pt x="58318" y="358559"/>
                  </a:lnTo>
                  <a:close/>
                </a:path>
                <a:path extrusionOk="0" h="724535" w="58420">
                  <a:moveTo>
                    <a:pt x="58318" y="25196"/>
                  </a:moveTo>
                  <a:lnTo>
                    <a:pt x="57238" y="21602"/>
                  </a:lnTo>
                  <a:lnTo>
                    <a:pt x="55435" y="17995"/>
                  </a:lnTo>
                  <a:lnTo>
                    <a:pt x="54000" y="14757"/>
                  </a:lnTo>
                  <a:lnTo>
                    <a:pt x="32397" y="0"/>
                  </a:lnTo>
                  <a:lnTo>
                    <a:pt x="24841" y="0"/>
                  </a:lnTo>
                  <a:lnTo>
                    <a:pt x="0" y="25196"/>
                  </a:lnTo>
                  <a:lnTo>
                    <a:pt x="0" y="33121"/>
                  </a:lnTo>
                  <a:lnTo>
                    <a:pt x="24841" y="57238"/>
                  </a:lnTo>
                  <a:lnTo>
                    <a:pt x="32397" y="57238"/>
                  </a:lnTo>
                  <a:lnTo>
                    <a:pt x="36360" y="56515"/>
                  </a:lnTo>
                  <a:lnTo>
                    <a:pt x="43561" y="54000"/>
                  </a:lnTo>
                  <a:lnTo>
                    <a:pt x="46799" y="52197"/>
                  </a:lnTo>
                  <a:lnTo>
                    <a:pt x="49682" y="48958"/>
                  </a:lnTo>
                  <a:lnTo>
                    <a:pt x="52197" y="46799"/>
                  </a:lnTo>
                  <a:lnTo>
                    <a:pt x="54000" y="43561"/>
                  </a:lnTo>
                  <a:lnTo>
                    <a:pt x="55435" y="39598"/>
                  </a:lnTo>
                  <a:lnTo>
                    <a:pt x="57238" y="36715"/>
                  </a:lnTo>
                  <a:lnTo>
                    <a:pt x="58318" y="33121"/>
                  </a:lnTo>
                  <a:lnTo>
                    <a:pt x="58318" y="29159"/>
                  </a:lnTo>
                  <a:lnTo>
                    <a:pt x="58318" y="25196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1"/>
          <p:cNvSpPr txBox="1"/>
          <p:nvPr/>
        </p:nvSpPr>
        <p:spPr>
          <a:xfrm>
            <a:off x="622983" y="2065956"/>
            <a:ext cx="4984200" cy="15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67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Shelf Label Hardware</a:t>
            </a:r>
            <a:endParaRPr b="1"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1325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(any variant with BLE)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132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2.9" E-Paper GDEH029A / T94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1325" marR="1642745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Li-Ion/Li-Po battery (1000-2000mAh) </a:t>
            </a: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TP4056 charging module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9" name="Google Shape;109;p11"/>
          <p:cNvGrpSpPr/>
          <p:nvPr/>
        </p:nvGrpSpPr>
        <p:grpSpPr>
          <a:xfrm>
            <a:off x="580682" y="4133529"/>
            <a:ext cx="5049189" cy="1315720"/>
            <a:chOff x="580682" y="4133529"/>
            <a:chExt cx="5049189" cy="1315720"/>
          </a:xfrm>
        </p:grpSpPr>
        <p:sp>
          <p:nvSpPr>
            <p:cNvPr id="110" name="Google Shape;110;p11"/>
            <p:cNvSpPr/>
            <p:nvPr/>
          </p:nvSpPr>
          <p:spPr>
            <a:xfrm>
              <a:off x="599401" y="4142889"/>
              <a:ext cx="5020945" cy="1296035"/>
            </a:xfrm>
            <a:custGeom>
              <a:rect b="b" l="l" r="r" t="t"/>
              <a:pathLst>
                <a:path extrusionOk="0" h="1296035" w="5020945">
                  <a:moveTo>
                    <a:pt x="5011915" y="0"/>
                  </a:moveTo>
                  <a:lnTo>
                    <a:pt x="71640" y="0"/>
                  </a:lnTo>
                  <a:lnTo>
                    <a:pt x="66598" y="723"/>
                  </a:lnTo>
                  <a:lnTo>
                    <a:pt x="61556" y="1079"/>
                  </a:lnTo>
                  <a:lnTo>
                    <a:pt x="51841" y="3238"/>
                  </a:lnTo>
                  <a:lnTo>
                    <a:pt x="42481" y="7200"/>
                  </a:lnTo>
                  <a:lnTo>
                    <a:pt x="34201" y="11163"/>
                  </a:lnTo>
                  <a:lnTo>
                    <a:pt x="30238" y="14046"/>
                  </a:lnTo>
                  <a:lnTo>
                    <a:pt x="25920" y="16560"/>
                  </a:lnTo>
                  <a:lnTo>
                    <a:pt x="22682" y="19799"/>
                  </a:lnTo>
                  <a:lnTo>
                    <a:pt x="15836" y="25920"/>
                  </a:lnTo>
                  <a:lnTo>
                    <a:pt x="13322" y="29883"/>
                  </a:lnTo>
                  <a:lnTo>
                    <a:pt x="10439" y="33121"/>
                  </a:lnTo>
                  <a:lnTo>
                    <a:pt x="3962" y="45364"/>
                  </a:lnTo>
                  <a:lnTo>
                    <a:pt x="1803" y="54000"/>
                  </a:lnTo>
                  <a:lnTo>
                    <a:pt x="1079" y="57962"/>
                  </a:lnTo>
                  <a:lnTo>
                    <a:pt x="0" y="62280"/>
                  </a:lnTo>
                  <a:lnTo>
                    <a:pt x="0" y="1229398"/>
                  </a:lnTo>
                  <a:lnTo>
                    <a:pt x="0" y="1233716"/>
                  </a:lnTo>
                  <a:lnTo>
                    <a:pt x="1079" y="1238034"/>
                  </a:lnTo>
                  <a:lnTo>
                    <a:pt x="19443" y="1273314"/>
                  </a:lnTo>
                  <a:lnTo>
                    <a:pt x="25920" y="1280159"/>
                  </a:lnTo>
                  <a:lnTo>
                    <a:pt x="30238" y="1282319"/>
                  </a:lnTo>
                  <a:lnTo>
                    <a:pt x="34201" y="1285201"/>
                  </a:lnTo>
                  <a:lnTo>
                    <a:pt x="38519" y="1287716"/>
                  </a:lnTo>
                  <a:lnTo>
                    <a:pt x="42481" y="1289519"/>
                  </a:lnTo>
                  <a:lnTo>
                    <a:pt x="47523" y="1290954"/>
                  </a:lnTo>
                  <a:lnTo>
                    <a:pt x="51841" y="1292758"/>
                  </a:lnTo>
                  <a:lnTo>
                    <a:pt x="66598" y="1295996"/>
                  </a:lnTo>
                  <a:lnTo>
                    <a:pt x="5011915" y="1295996"/>
                  </a:lnTo>
                  <a:lnTo>
                    <a:pt x="5015153" y="1294917"/>
                  </a:lnTo>
                  <a:lnTo>
                    <a:pt x="5016957" y="1292758"/>
                  </a:lnTo>
                  <a:lnTo>
                    <a:pt x="5019471" y="1290599"/>
                  </a:lnTo>
                  <a:lnTo>
                    <a:pt x="5020919" y="1287716"/>
                  </a:lnTo>
                  <a:lnTo>
                    <a:pt x="5020919" y="9004"/>
                  </a:lnTo>
                  <a:lnTo>
                    <a:pt x="5019471" y="6121"/>
                  </a:lnTo>
                  <a:lnTo>
                    <a:pt x="5016957" y="3962"/>
                  </a:lnTo>
                  <a:lnTo>
                    <a:pt x="5015153" y="1079"/>
                  </a:lnTo>
                  <a:lnTo>
                    <a:pt x="5011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599401" y="4133529"/>
              <a:ext cx="5030470" cy="1315720"/>
            </a:xfrm>
            <a:custGeom>
              <a:rect b="b" l="l" r="r" t="t"/>
              <a:pathLst>
                <a:path extrusionOk="0" h="1315720" w="5030470">
                  <a:moveTo>
                    <a:pt x="5030279" y="1314361"/>
                  </a:moveTo>
                  <a:lnTo>
                    <a:pt x="4954676" y="1238402"/>
                  </a:lnTo>
                  <a:lnTo>
                    <a:pt x="0" y="1238402"/>
                  </a:lnTo>
                  <a:lnTo>
                    <a:pt x="0" y="1315440"/>
                  </a:lnTo>
                  <a:lnTo>
                    <a:pt x="5030279" y="1314361"/>
                  </a:lnTo>
                  <a:close/>
                </a:path>
                <a:path extrusionOk="0" h="1315720" w="5030470">
                  <a:moveTo>
                    <a:pt x="5030279" y="0"/>
                  </a:moveTo>
                  <a:lnTo>
                    <a:pt x="0" y="0"/>
                  </a:lnTo>
                  <a:lnTo>
                    <a:pt x="0" y="77038"/>
                  </a:lnTo>
                  <a:lnTo>
                    <a:pt x="4954676" y="77038"/>
                  </a:lnTo>
                  <a:lnTo>
                    <a:pt x="5030279" y="1079"/>
                  </a:lnTo>
                  <a:lnTo>
                    <a:pt x="5030279" y="0"/>
                  </a:lnTo>
                  <a:close/>
                </a:path>
              </a:pathLst>
            </a:custGeom>
            <a:solidFill>
              <a:srgbClr val="D7D3D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580682" y="4133529"/>
              <a:ext cx="77470" cy="1315720"/>
            </a:xfrm>
            <a:custGeom>
              <a:rect b="b" l="l" r="r" t="t"/>
              <a:pathLst>
                <a:path extrusionOk="0" h="1315720" w="77470">
                  <a:moveTo>
                    <a:pt x="77038" y="0"/>
                  </a:moveTo>
                  <a:lnTo>
                    <a:pt x="18719" y="0"/>
                  </a:lnTo>
                  <a:lnTo>
                    <a:pt x="15836" y="723"/>
                  </a:lnTo>
                  <a:lnTo>
                    <a:pt x="1803" y="13322"/>
                  </a:lnTo>
                  <a:lnTo>
                    <a:pt x="723" y="15481"/>
                  </a:lnTo>
                  <a:lnTo>
                    <a:pt x="0" y="18719"/>
                  </a:lnTo>
                  <a:lnTo>
                    <a:pt x="0" y="1293837"/>
                  </a:lnTo>
                  <a:lnTo>
                    <a:pt x="0" y="1296720"/>
                  </a:lnTo>
                  <a:lnTo>
                    <a:pt x="1803" y="1302118"/>
                  </a:lnTo>
                  <a:lnTo>
                    <a:pt x="4318" y="1307160"/>
                  </a:lnTo>
                  <a:lnTo>
                    <a:pt x="6121" y="1308595"/>
                  </a:lnTo>
                  <a:lnTo>
                    <a:pt x="8280" y="1310754"/>
                  </a:lnTo>
                  <a:lnTo>
                    <a:pt x="10439" y="1312557"/>
                  </a:lnTo>
                  <a:lnTo>
                    <a:pt x="15836" y="1314716"/>
                  </a:lnTo>
                  <a:lnTo>
                    <a:pt x="18719" y="1315440"/>
                  </a:lnTo>
                  <a:lnTo>
                    <a:pt x="77038" y="1315440"/>
                  </a:lnTo>
                  <a:lnTo>
                    <a:pt x="77038" y="0"/>
                  </a:lnTo>
                  <a:close/>
                </a:path>
              </a:pathLst>
            </a:custGeom>
            <a:solidFill>
              <a:srgbClr val="DF4E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1"/>
          <p:cNvSpPr txBox="1"/>
          <p:nvPr/>
        </p:nvSpPr>
        <p:spPr>
          <a:xfrm>
            <a:off x="5823360" y="2065956"/>
            <a:ext cx="49842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Gateway Hardware</a:t>
            </a:r>
            <a:endParaRPr b="1"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1959" marR="2123440" rtl="0" algn="l">
              <a:lnSpc>
                <a:spcPct val="162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with Wi-Fi capability USB power supply (5V/1A) Internet connection via router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4" name="Google Shape;114;p11"/>
          <p:cNvGrpSpPr/>
          <p:nvPr/>
        </p:nvGrpSpPr>
        <p:grpSpPr>
          <a:xfrm>
            <a:off x="5781243" y="4133529"/>
            <a:ext cx="5049545" cy="1315720"/>
            <a:chOff x="5781243" y="4133529"/>
            <a:chExt cx="5049545" cy="1315720"/>
          </a:xfrm>
        </p:grpSpPr>
        <p:sp>
          <p:nvSpPr>
            <p:cNvPr id="115" name="Google Shape;115;p11"/>
            <p:cNvSpPr/>
            <p:nvPr/>
          </p:nvSpPr>
          <p:spPr>
            <a:xfrm>
              <a:off x="5800318" y="4142889"/>
              <a:ext cx="5020310" cy="1296035"/>
            </a:xfrm>
            <a:custGeom>
              <a:rect b="b" l="l" r="r" t="t"/>
              <a:pathLst>
                <a:path extrusionOk="0" h="1296035" w="5020309">
                  <a:moveTo>
                    <a:pt x="5011559" y="0"/>
                  </a:moveTo>
                  <a:lnTo>
                    <a:pt x="71285" y="0"/>
                  </a:lnTo>
                  <a:lnTo>
                    <a:pt x="66243" y="723"/>
                  </a:lnTo>
                  <a:lnTo>
                    <a:pt x="61201" y="1079"/>
                  </a:lnTo>
                  <a:lnTo>
                    <a:pt x="51485" y="3238"/>
                  </a:lnTo>
                  <a:lnTo>
                    <a:pt x="46799" y="5041"/>
                  </a:lnTo>
                  <a:lnTo>
                    <a:pt x="42481" y="7200"/>
                  </a:lnTo>
                  <a:lnTo>
                    <a:pt x="38163" y="9004"/>
                  </a:lnTo>
                  <a:lnTo>
                    <a:pt x="33845" y="11163"/>
                  </a:lnTo>
                  <a:lnTo>
                    <a:pt x="29883" y="14046"/>
                  </a:lnTo>
                  <a:lnTo>
                    <a:pt x="25565" y="16560"/>
                  </a:lnTo>
                  <a:lnTo>
                    <a:pt x="22682" y="19799"/>
                  </a:lnTo>
                  <a:lnTo>
                    <a:pt x="18719" y="22682"/>
                  </a:lnTo>
                  <a:lnTo>
                    <a:pt x="15481" y="25920"/>
                  </a:lnTo>
                  <a:lnTo>
                    <a:pt x="12966" y="29883"/>
                  </a:lnTo>
                  <a:lnTo>
                    <a:pt x="10083" y="33121"/>
                  </a:lnTo>
                  <a:lnTo>
                    <a:pt x="5765" y="41401"/>
                  </a:lnTo>
                  <a:lnTo>
                    <a:pt x="3962" y="45364"/>
                  </a:lnTo>
                  <a:lnTo>
                    <a:pt x="2527" y="49682"/>
                  </a:lnTo>
                  <a:lnTo>
                    <a:pt x="1803" y="54000"/>
                  </a:lnTo>
                  <a:lnTo>
                    <a:pt x="723" y="57962"/>
                  </a:lnTo>
                  <a:lnTo>
                    <a:pt x="0" y="62280"/>
                  </a:lnTo>
                  <a:lnTo>
                    <a:pt x="0" y="1229398"/>
                  </a:lnTo>
                  <a:lnTo>
                    <a:pt x="0" y="1233716"/>
                  </a:lnTo>
                  <a:lnTo>
                    <a:pt x="723" y="1238034"/>
                  </a:lnTo>
                  <a:lnTo>
                    <a:pt x="1803" y="1242720"/>
                  </a:lnTo>
                  <a:lnTo>
                    <a:pt x="2527" y="1247038"/>
                  </a:lnTo>
                  <a:lnTo>
                    <a:pt x="22682" y="1276921"/>
                  </a:lnTo>
                  <a:lnTo>
                    <a:pt x="25565" y="1280159"/>
                  </a:lnTo>
                  <a:lnTo>
                    <a:pt x="29883" y="1282319"/>
                  </a:lnTo>
                  <a:lnTo>
                    <a:pt x="33845" y="1285201"/>
                  </a:lnTo>
                  <a:lnTo>
                    <a:pt x="38163" y="1287716"/>
                  </a:lnTo>
                  <a:lnTo>
                    <a:pt x="42481" y="1289519"/>
                  </a:lnTo>
                  <a:lnTo>
                    <a:pt x="51485" y="1292758"/>
                  </a:lnTo>
                  <a:lnTo>
                    <a:pt x="66243" y="1295996"/>
                  </a:lnTo>
                  <a:lnTo>
                    <a:pt x="5011559" y="1295996"/>
                  </a:lnTo>
                  <a:lnTo>
                    <a:pt x="5014798" y="1294917"/>
                  </a:lnTo>
                  <a:lnTo>
                    <a:pt x="5019116" y="1290599"/>
                  </a:lnTo>
                  <a:lnTo>
                    <a:pt x="5020195" y="1287716"/>
                  </a:lnTo>
                  <a:lnTo>
                    <a:pt x="5020195" y="9004"/>
                  </a:lnTo>
                  <a:lnTo>
                    <a:pt x="5019116" y="6121"/>
                  </a:lnTo>
                  <a:lnTo>
                    <a:pt x="5016957" y="3962"/>
                  </a:lnTo>
                  <a:lnTo>
                    <a:pt x="5014798" y="1079"/>
                  </a:lnTo>
                  <a:lnTo>
                    <a:pt x="5011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>
              <a:off x="5800318" y="4133529"/>
              <a:ext cx="5030470" cy="1315720"/>
            </a:xfrm>
            <a:custGeom>
              <a:rect b="b" l="l" r="r" t="t"/>
              <a:pathLst>
                <a:path extrusionOk="0" h="1315720" w="5030470">
                  <a:moveTo>
                    <a:pt x="5030279" y="1314361"/>
                  </a:moveTo>
                  <a:lnTo>
                    <a:pt x="4954676" y="1238402"/>
                  </a:lnTo>
                  <a:lnTo>
                    <a:pt x="0" y="1238402"/>
                  </a:lnTo>
                  <a:lnTo>
                    <a:pt x="0" y="1315440"/>
                  </a:lnTo>
                  <a:lnTo>
                    <a:pt x="5030279" y="1314361"/>
                  </a:lnTo>
                  <a:close/>
                </a:path>
                <a:path extrusionOk="0" h="1315720" w="5030470">
                  <a:moveTo>
                    <a:pt x="5030279" y="0"/>
                  </a:moveTo>
                  <a:lnTo>
                    <a:pt x="0" y="0"/>
                  </a:lnTo>
                  <a:lnTo>
                    <a:pt x="0" y="77038"/>
                  </a:lnTo>
                  <a:lnTo>
                    <a:pt x="4954676" y="77038"/>
                  </a:lnTo>
                  <a:lnTo>
                    <a:pt x="5030279" y="1079"/>
                  </a:lnTo>
                  <a:lnTo>
                    <a:pt x="5030279" y="0"/>
                  </a:lnTo>
                  <a:close/>
                </a:path>
              </a:pathLst>
            </a:custGeom>
            <a:solidFill>
              <a:srgbClr val="D7D3D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5781243" y="4133529"/>
              <a:ext cx="77470" cy="1315720"/>
            </a:xfrm>
            <a:custGeom>
              <a:rect b="b" l="l" r="r" t="t"/>
              <a:pathLst>
                <a:path extrusionOk="0" h="1315720" w="77470">
                  <a:moveTo>
                    <a:pt x="77038" y="0"/>
                  </a:moveTo>
                  <a:lnTo>
                    <a:pt x="18719" y="0"/>
                  </a:lnTo>
                  <a:lnTo>
                    <a:pt x="15836" y="723"/>
                  </a:lnTo>
                  <a:lnTo>
                    <a:pt x="10439" y="2882"/>
                  </a:lnTo>
                  <a:lnTo>
                    <a:pt x="8280" y="3962"/>
                  </a:lnTo>
                  <a:lnTo>
                    <a:pt x="6476" y="6121"/>
                  </a:lnTo>
                  <a:lnTo>
                    <a:pt x="4317" y="8280"/>
                  </a:lnTo>
                  <a:lnTo>
                    <a:pt x="2882" y="10439"/>
                  </a:lnTo>
                  <a:lnTo>
                    <a:pt x="355" y="15481"/>
                  </a:lnTo>
                  <a:lnTo>
                    <a:pt x="0" y="18719"/>
                  </a:lnTo>
                  <a:lnTo>
                    <a:pt x="0" y="1293837"/>
                  </a:lnTo>
                  <a:lnTo>
                    <a:pt x="0" y="1296720"/>
                  </a:lnTo>
                  <a:lnTo>
                    <a:pt x="355" y="1299235"/>
                  </a:lnTo>
                  <a:lnTo>
                    <a:pt x="1435" y="1302118"/>
                  </a:lnTo>
                  <a:lnTo>
                    <a:pt x="2882" y="1304277"/>
                  </a:lnTo>
                  <a:lnTo>
                    <a:pt x="4317" y="1307160"/>
                  </a:lnTo>
                  <a:lnTo>
                    <a:pt x="6476" y="1308595"/>
                  </a:lnTo>
                  <a:lnTo>
                    <a:pt x="8280" y="1310754"/>
                  </a:lnTo>
                  <a:lnTo>
                    <a:pt x="10439" y="1312557"/>
                  </a:lnTo>
                  <a:lnTo>
                    <a:pt x="15836" y="1314716"/>
                  </a:lnTo>
                  <a:lnTo>
                    <a:pt x="18719" y="1315440"/>
                  </a:lnTo>
                  <a:lnTo>
                    <a:pt x="77038" y="1315440"/>
                  </a:lnTo>
                  <a:lnTo>
                    <a:pt x="77038" y="0"/>
                  </a:lnTo>
                  <a:close/>
                </a:path>
              </a:pathLst>
            </a:custGeom>
            <a:solidFill>
              <a:srgbClr val="DF4E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1"/>
          <p:cNvSpPr txBox="1"/>
          <p:nvPr/>
        </p:nvSpPr>
        <p:spPr>
          <a:xfrm>
            <a:off x="835101" y="4304433"/>
            <a:ext cx="4599300" cy="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Shelf Label Libraries</a:t>
            </a:r>
            <a:endParaRPr b="1"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4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BLEDevice, Preferences, GxEPD2, Adafruit_GFX, ESP Deep Sleep APIs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6035662" y="4304433"/>
            <a:ext cx="4495800" cy="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Gateway Libraries</a:t>
            </a:r>
            <a:endParaRPr b="1"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4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WiFi, WebServer, PubSubClient, ArduinoOTA, ESPmDNS, BLEDevice, Preferences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/>
          <p:nvPr/>
        </p:nvSpPr>
        <p:spPr>
          <a:xfrm>
            <a:off x="0" y="9"/>
            <a:ext cx="11430000" cy="6439535"/>
          </a:xfrm>
          <a:custGeom>
            <a:rect b="b" l="l" r="r" t="t"/>
            <a:pathLst>
              <a:path extrusionOk="0" h="6439535" w="11430000">
                <a:moveTo>
                  <a:pt x="11430000" y="0"/>
                </a:moveTo>
                <a:lnTo>
                  <a:pt x="0" y="0"/>
                </a:lnTo>
                <a:lnTo>
                  <a:pt x="0" y="6438963"/>
                </a:lnTo>
                <a:lnTo>
                  <a:pt x="11430000" y="6438963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"/>
          <p:cNvSpPr txBox="1"/>
          <p:nvPr>
            <p:ph type="title"/>
          </p:nvPr>
        </p:nvSpPr>
        <p:spPr>
          <a:xfrm>
            <a:off x="587488" y="321559"/>
            <a:ext cx="102552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9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Optimization Strategy</a:t>
            </a:r>
            <a:endParaRPr/>
          </a:p>
        </p:txBody>
      </p:sp>
      <p:sp>
        <p:nvSpPr>
          <p:cNvPr id="126" name="Google Shape;126;p12"/>
          <p:cNvSpPr/>
          <p:nvPr/>
        </p:nvSpPr>
        <p:spPr>
          <a:xfrm>
            <a:off x="599757" y="2705046"/>
            <a:ext cx="3296285" cy="20320"/>
          </a:xfrm>
          <a:custGeom>
            <a:rect b="b" l="l" r="r" t="t"/>
            <a:pathLst>
              <a:path extrusionOk="0" h="20319" w="3296285">
                <a:moveTo>
                  <a:pt x="3296157" y="0"/>
                </a:moveTo>
                <a:lnTo>
                  <a:pt x="0" y="0"/>
                </a:lnTo>
                <a:lnTo>
                  <a:pt x="0" y="19799"/>
                </a:lnTo>
                <a:lnTo>
                  <a:pt x="3296157" y="19799"/>
                </a:lnTo>
                <a:lnTo>
                  <a:pt x="3296157" y="0"/>
                </a:lnTo>
                <a:close/>
              </a:path>
            </a:pathLst>
          </a:custGeom>
          <a:solidFill>
            <a:srgbClr val="484FB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/>
        </p:nvSpPr>
        <p:spPr>
          <a:xfrm>
            <a:off x="591375" y="2406507"/>
            <a:ext cx="220979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Lucida Sans"/>
                <a:ea typeface="Lucida Sans"/>
                <a:cs typeface="Lucida Sans"/>
                <a:sym typeface="Lucida Sans"/>
              </a:rPr>
              <a:t>01</a:t>
            </a:r>
            <a:endParaRPr sz="135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587425" y="2812234"/>
            <a:ext cx="31713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BLE Window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19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Bluetooth radio enabled only during scheduled update intervals, minimizing active power draw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4066921" y="2705046"/>
            <a:ext cx="3296285" cy="20320"/>
          </a:xfrm>
          <a:custGeom>
            <a:rect b="b" l="l" r="r" t="t"/>
            <a:pathLst>
              <a:path extrusionOk="0" h="20319" w="3296284">
                <a:moveTo>
                  <a:pt x="3296157" y="0"/>
                </a:moveTo>
                <a:lnTo>
                  <a:pt x="0" y="0"/>
                </a:lnTo>
                <a:lnTo>
                  <a:pt x="0" y="19799"/>
                </a:lnTo>
                <a:lnTo>
                  <a:pt x="3296157" y="19799"/>
                </a:lnTo>
                <a:lnTo>
                  <a:pt x="3296157" y="0"/>
                </a:lnTo>
                <a:close/>
              </a:path>
            </a:pathLst>
          </a:custGeom>
          <a:solidFill>
            <a:srgbClr val="484FB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4039819" y="2406507"/>
            <a:ext cx="220979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Lucida Sans"/>
                <a:ea typeface="Lucida Sans"/>
                <a:cs typeface="Lucida Sans"/>
                <a:sym typeface="Lucida Sans"/>
              </a:rPr>
              <a:t>02</a:t>
            </a:r>
            <a:endParaRPr sz="135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4054576" y="2812234"/>
            <a:ext cx="3140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Sleep Entry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19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enters ultra-low power mode immediately after successful update or timeout expiration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7534084" y="2705046"/>
            <a:ext cx="3296285" cy="20320"/>
          </a:xfrm>
          <a:custGeom>
            <a:rect b="b" l="l" r="r" t="t"/>
            <a:pathLst>
              <a:path extrusionOk="0" h="20319" w="3296284">
                <a:moveTo>
                  <a:pt x="3296157" y="0"/>
                </a:moveTo>
                <a:lnTo>
                  <a:pt x="0" y="0"/>
                </a:lnTo>
                <a:lnTo>
                  <a:pt x="0" y="19799"/>
                </a:lnTo>
                <a:lnTo>
                  <a:pt x="3296157" y="19799"/>
                </a:lnTo>
                <a:lnTo>
                  <a:pt x="3296157" y="0"/>
                </a:lnTo>
                <a:close/>
              </a:path>
            </a:pathLst>
          </a:custGeom>
          <a:solidFill>
            <a:srgbClr val="484FB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7507693" y="2406507"/>
            <a:ext cx="220979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Lucida Sans"/>
                <a:ea typeface="Lucida Sans"/>
                <a:cs typeface="Lucida Sans"/>
                <a:sym typeface="Lucida Sans"/>
              </a:rPr>
              <a:t>03</a:t>
            </a:r>
            <a:endParaRPr sz="135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7521740" y="2812234"/>
            <a:ext cx="31020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RTC Wake-Up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19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timer triggers periodic wake cycles for scheduled content refreshes and connection availability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587425" y="4288299"/>
            <a:ext cx="10185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three-stage approach achieves micro-amp deep sleep current while maintaining reliable update availability during defined windows.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/>
          <p:nvPr/>
        </p:nvSpPr>
        <p:spPr>
          <a:xfrm>
            <a:off x="0" y="9"/>
            <a:ext cx="11430000" cy="6439535"/>
          </a:xfrm>
          <a:custGeom>
            <a:rect b="b" l="l" r="r" t="t"/>
            <a:pathLst>
              <a:path extrusionOk="0" h="6439535" w="11430000">
                <a:moveTo>
                  <a:pt x="11429644" y="0"/>
                </a:moveTo>
                <a:lnTo>
                  <a:pt x="0" y="0"/>
                </a:lnTo>
                <a:lnTo>
                  <a:pt x="0" y="6439319"/>
                </a:lnTo>
                <a:lnTo>
                  <a:pt x="11429644" y="6439319"/>
                </a:lnTo>
                <a:lnTo>
                  <a:pt x="114296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"/>
          <p:cNvSpPr txBox="1"/>
          <p:nvPr>
            <p:ph type="title"/>
          </p:nvPr>
        </p:nvSpPr>
        <p:spPr>
          <a:xfrm>
            <a:off x="587425" y="831450"/>
            <a:ext cx="108426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>
                <a:solidFill>
                  <a:srgbClr val="010101"/>
                </a:solidFill>
              </a:rPr>
              <a:t>Power Consumption Profile</a:t>
            </a:r>
            <a:endParaRPr sz="3550"/>
          </a:p>
        </p:txBody>
      </p:sp>
      <p:sp>
        <p:nvSpPr>
          <p:cNvPr id="142" name="Google Shape;142;p13"/>
          <p:cNvSpPr txBox="1"/>
          <p:nvPr/>
        </p:nvSpPr>
        <p:spPr>
          <a:xfrm>
            <a:off x="975150" y="2157750"/>
            <a:ext cx="2525400" cy="18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2575">
            <a:spAutoFit/>
          </a:bodyPr>
          <a:lstStyle/>
          <a:p>
            <a:pPr indent="0" lvl="0" marL="7493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180mA</a:t>
            </a:r>
            <a:endParaRPr sz="4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85" rtl="0" algn="ctr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Mode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 receiving + E-Paper refresh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4697895" y="2157754"/>
            <a:ext cx="2063100" cy="18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2575">
            <a:spAutoFit/>
          </a:bodyPr>
          <a:lstStyle/>
          <a:p>
            <a:pPr indent="0" lvl="0" marL="1968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10µA</a:t>
            </a:r>
            <a:endParaRPr sz="4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450" rtl="0" algn="ctr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Sleep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RTC + RAM retention only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7792466" y="2157754"/>
            <a:ext cx="2733600" cy="18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2575">
            <a:spAutoFit/>
          </a:bodyPr>
          <a:lstStyle/>
          <a:p>
            <a:pPr indent="0" lvl="0" marL="819785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rPr lang="en-US" sz="44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1yr</a:t>
            </a:r>
            <a:endParaRPr sz="4450">
              <a:solidFill>
                <a:srgbClr val="3737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19785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Life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2000mAh Li-Po with daily updates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587063" y="4586213"/>
            <a:ext cx="102558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stored in NVS (non-volatile storage) so labels retain information even during extended sleep periods. The GxEPD2 library manages partial refresh to minimize power draw.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/>
          <p:nvPr/>
        </p:nvSpPr>
        <p:spPr>
          <a:xfrm>
            <a:off x="0" y="14146"/>
            <a:ext cx="11430635" cy="6439535"/>
          </a:xfrm>
          <a:custGeom>
            <a:rect b="b" l="l" r="r" t="t"/>
            <a:pathLst>
              <a:path extrusionOk="0" h="6439535" w="11430635">
                <a:moveTo>
                  <a:pt x="11430355" y="0"/>
                </a:moveTo>
                <a:lnTo>
                  <a:pt x="0" y="0"/>
                </a:lnTo>
                <a:lnTo>
                  <a:pt x="0" y="6438963"/>
                </a:lnTo>
                <a:lnTo>
                  <a:pt x="11430355" y="6438963"/>
                </a:lnTo>
                <a:lnTo>
                  <a:pt x="114303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125" y="1028531"/>
            <a:ext cx="4371479" cy="4381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 txBox="1"/>
          <p:nvPr>
            <p:ph type="title"/>
          </p:nvPr>
        </p:nvSpPr>
        <p:spPr>
          <a:xfrm>
            <a:off x="5388373" y="761575"/>
            <a:ext cx="52407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Display Layout Design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5438521" y="2705046"/>
            <a:ext cx="57785" cy="57785"/>
          </a:xfrm>
          <a:custGeom>
            <a:rect b="b" l="l" r="r" t="t"/>
            <a:pathLst>
              <a:path extrusionOk="0" h="57785" w="57785">
                <a:moveTo>
                  <a:pt x="32397" y="0"/>
                </a:moveTo>
                <a:lnTo>
                  <a:pt x="24841" y="0"/>
                </a:lnTo>
                <a:lnTo>
                  <a:pt x="21234" y="723"/>
                </a:lnTo>
                <a:lnTo>
                  <a:pt x="2158" y="17640"/>
                </a:lnTo>
                <a:lnTo>
                  <a:pt x="723" y="20878"/>
                </a:lnTo>
                <a:lnTo>
                  <a:pt x="0" y="24841"/>
                </a:lnTo>
                <a:lnTo>
                  <a:pt x="0" y="32397"/>
                </a:lnTo>
                <a:lnTo>
                  <a:pt x="723" y="36004"/>
                </a:lnTo>
                <a:lnTo>
                  <a:pt x="2158" y="39242"/>
                </a:lnTo>
                <a:lnTo>
                  <a:pt x="3594" y="42849"/>
                </a:lnTo>
                <a:lnTo>
                  <a:pt x="24841" y="57238"/>
                </a:lnTo>
                <a:lnTo>
                  <a:pt x="32397" y="57238"/>
                </a:lnTo>
                <a:lnTo>
                  <a:pt x="48958" y="48602"/>
                </a:lnTo>
                <a:lnTo>
                  <a:pt x="51841" y="46088"/>
                </a:lnTo>
                <a:lnTo>
                  <a:pt x="54000" y="42849"/>
                </a:lnTo>
                <a:lnTo>
                  <a:pt x="55435" y="39242"/>
                </a:lnTo>
                <a:lnTo>
                  <a:pt x="56883" y="36004"/>
                </a:lnTo>
                <a:lnTo>
                  <a:pt x="57594" y="32397"/>
                </a:lnTo>
                <a:lnTo>
                  <a:pt x="57594" y="28448"/>
                </a:lnTo>
                <a:lnTo>
                  <a:pt x="57594" y="24841"/>
                </a:lnTo>
                <a:lnTo>
                  <a:pt x="56883" y="20878"/>
                </a:lnTo>
                <a:lnTo>
                  <a:pt x="55435" y="17640"/>
                </a:lnTo>
                <a:lnTo>
                  <a:pt x="54000" y="14046"/>
                </a:lnTo>
                <a:lnTo>
                  <a:pt x="51841" y="10807"/>
                </a:lnTo>
                <a:lnTo>
                  <a:pt x="48958" y="8280"/>
                </a:lnTo>
                <a:lnTo>
                  <a:pt x="46075" y="5397"/>
                </a:lnTo>
                <a:lnTo>
                  <a:pt x="43192" y="3606"/>
                </a:lnTo>
                <a:lnTo>
                  <a:pt x="36004" y="723"/>
                </a:lnTo>
                <a:lnTo>
                  <a:pt x="32397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5438521" y="3038408"/>
            <a:ext cx="57785" cy="57785"/>
          </a:xfrm>
          <a:custGeom>
            <a:rect b="b" l="l" r="r" t="t"/>
            <a:pathLst>
              <a:path extrusionOk="0" h="57785" w="57785">
                <a:moveTo>
                  <a:pt x="32397" y="0"/>
                </a:moveTo>
                <a:lnTo>
                  <a:pt x="24841" y="0"/>
                </a:lnTo>
                <a:lnTo>
                  <a:pt x="21234" y="723"/>
                </a:lnTo>
                <a:lnTo>
                  <a:pt x="2158" y="17995"/>
                </a:lnTo>
                <a:lnTo>
                  <a:pt x="723" y="21247"/>
                </a:lnTo>
                <a:lnTo>
                  <a:pt x="0" y="25196"/>
                </a:lnTo>
                <a:lnTo>
                  <a:pt x="0" y="32766"/>
                </a:lnTo>
                <a:lnTo>
                  <a:pt x="723" y="36360"/>
                </a:lnTo>
                <a:lnTo>
                  <a:pt x="2158" y="39598"/>
                </a:lnTo>
                <a:lnTo>
                  <a:pt x="3594" y="43205"/>
                </a:lnTo>
                <a:lnTo>
                  <a:pt x="24841" y="57238"/>
                </a:lnTo>
                <a:lnTo>
                  <a:pt x="32397" y="57238"/>
                </a:lnTo>
                <a:lnTo>
                  <a:pt x="36004" y="56515"/>
                </a:lnTo>
                <a:lnTo>
                  <a:pt x="43192" y="53644"/>
                </a:lnTo>
                <a:lnTo>
                  <a:pt x="46075" y="51841"/>
                </a:lnTo>
                <a:lnTo>
                  <a:pt x="48958" y="48958"/>
                </a:lnTo>
                <a:lnTo>
                  <a:pt x="51841" y="46443"/>
                </a:lnTo>
                <a:lnTo>
                  <a:pt x="54000" y="43205"/>
                </a:lnTo>
                <a:lnTo>
                  <a:pt x="55435" y="39598"/>
                </a:lnTo>
                <a:lnTo>
                  <a:pt x="56883" y="36360"/>
                </a:lnTo>
                <a:lnTo>
                  <a:pt x="57594" y="32766"/>
                </a:lnTo>
                <a:lnTo>
                  <a:pt x="57594" y="28803"/>
                </a:lnTo>
                <a:lnTo>
                  <a:pt x="57594" y="25196"/>
                </a:lnTo>
                <a:lnTo>
                  <a:pt x="56883" y="21247"/>
                </a:lnTo>
                <a:lnTo>
                  <a:pt x="55435" y="17995"/>
                </a:lnTo>
                <a:lnTo>
                  <a:pt x="54000" y="14401"/>
                </a:lnTo>
                <a:lnTo>
                  <a:pt x="51841" y="11163"/>
                </a:lnTo>
                <a:lnTo>
                  <a:pt x="43192" y="3606"/>
                </a:lnTo>
                <a:lnTo>
                  <a:pt x="36004" y="723"/>
                </a:lnTo>
                <a:lnTo>
                  <a:pt x="32397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5438521" y="3371770"/>
            <a:ext cx="57785" cy="57785"/>
          </a:xfrm>
          <a:custGeom>
            <a:rect b="b" l="l" r="r" t="t"/>
            <a:pathLst>
              <a:path extrusionOk="0" h="57785" w="57785">
                <a:moveTo>
                  <a:pt x="32397" y="0"/>
                </a:moveTo>
                <a:lnTo>
                  <a:pt x="24841" y="0"/>
                </a:lnTo>
                <a:lnTo>
                  <a:pt x="21234" y="723"/>
                </a:lnTo>
                <a:lnTo>
                  <a:pt x="2158" y="17995"/>
                </a:lnTo>
                <a:lnTo>
                  <a:pt x="723" y="21234"/>
                </a:lnTo>
                <a:lnTo>
                  <a:pt x="0" y="25196"/>
                </a:lnTo>
                <a:lnTo>
                  <a:pt x="0" y="32753"/>
                </a:lnTo>
                <a:lnTo>
                  <a:pt x="723" y="36360"/>
                </a:lnTo>
                <a:lnTo>
                  <a:pt x="2158" y="39598"/>
                </a:lnTo>
                <a:lnTo>
                  <a:pt x="3594" y="43192"/>
                </a:lnTo>
                <a:lnTo>
                  <a:pt x="24841" y="57594"/>
                </a:lnTo>
                <a:lnTo>
                  <a:pt x="32397" y="57594"/>
                </a:lnTo>
                <a:lnTo>
                  <a:pt x="36004" y="56514"/>
                </a:lnTo>
                <a:lnTo>
                  <a:pt x="43192" y="53644"/>
                </a:lnTo>
                <a:lnTo>
                  <a:pt x="46075" y="51841"/>
                </a:lnTo>
                <a:lnTo>
                  <a:pt x="48958" y="48958"/>
                </a:lnTo>
                <a:lnTo>
                  <a:pt x="51841" y="46443"/>
                </a:lnTo>
                <a:lnTo>
                  <a:pt x="54000" y="43192"/>
                </a:lnTo>
                <a:lnTo>
                  <a:pt x="55435" y="39598"/>
                </a:lnTo>
                <a:lnTo>
                  <a:pt x="56883" y="36360"/>
                </a:lnTo>
                <a:lnTo>
                  <a:pt x="57594" y="32753"/>
                </a:lnTo>
                <a:lnTo>
                  <a:pt x="57594" y="28803"/>
                </a:lnTo>
                <a:lnTo>
                  <a:pt x="57594" y="25196"/>
                </a:lnTo>
                <a:lnTo>
                  <a:pt x="56883" y="21234"/>
                </a:lnTo>
                <a:lnTo>
                  <a:pt x="55435" y="17995"/>
                </a:lnTo>
                <a:lnTo>
                  <a:pt x="54000" y="14401"/>
                </a:lnTo>
                <a:lnTo>
                  <a:pt x="51841" y="10795"/>
                </a:lnTo>
                <a:lnTo>
                  <a:pt x="46075" y="5753"/>
                </a:lnTo>
                <a:lnTo>
                  <a:pt x="43192" y="3594"/>
                </a:lnTo>
                <a:lnTo>
                  <a:pt x="36004" y="723"/>
                </a:lnTo>
                <a:lnTo>
                  <a:pt x="32397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5438521" y="3705133"/>
            <a:ext cx="57785" cy="57785"/>
          </a:xfrm>
          <a:custGeom>
            <a:rect b="b" l="l" r="r" t="t"/>
            <a:pathLst>
              <a:path extrusionOk="0" h="57785" w="57785">
                <a:moveTo>
                  <a:pt x="32397" y="0"/>
                </a:moveTo>
                <a:lnTo>
                  <a:pt x="24841" y="0"/>
                </a:lnTo>
                <a:lnTo>
                  <a:pt x="21234" y="711"/>
                </a:lnTo>
                <a:lnTo>
                  <a:pt x="0" y="25196"/>
                </a:lnTo>
                <a:lnTo>
                  <a:pt x="0" y="32753"/>
                </a:lnTo>
                <a:lnTo>
                  <a:pt x="24841" y="57594"/>
                </a:lnTo>
                <a:lnTo>
                  <a:pt x="32397" y="57594"/>
                </a:lnTo>
                <a:lnTo>
                  <a:pt x="48958" y="48958"/>
                </a:lnTo>
                <a:lnTo>
                  <a:pt x="51841" y="46431"/>
                </a:lnTo>
                <a:lnTo>
                  <a:pt x="54000" y="43192"/>
                </a:lnTo>
                <a:lnTo>
                  <a:pt x="55435" y="39954"/>
                </a:lnTo>
                <a:lnTo>
                  <a:pt x="56883" y="36360"/>
                </a:lnTo>
                <a:lnTo>
                  <a:pt x="57594" y="32753"/>
                </a:lnTo>
                <a:lnTo>
                  <a:pt x="57594" y="28790"/>
                </a:lnTo>
                <a:lnTo>
                  <a:pt x="57594" y="25196"/>
                </a:lnTo>
                <a:lnTo>
                  <a:pt x="36004" y="711"/>
                </a:lnTo>
                <a:lnTo>
                  <a:pt x="32397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5388381" y="1983704"/>
            <a:ext cx="5531400" cy="1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2.9" e-paper screen presents four critical pieces of retail information in a clear, readable format optimized for quick customer scanning: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7020" marR="1877695" rtl="0" algn="l">
              <a:lnSpc>
                <a:spcPct val="162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Name – Primary identification Price (₹) – Large, prominent font Quantity – Unit or volume specification Discount/Offer – Promotional messaging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/>
          <p:nvPr/>
        </p:nvSpPr>
        <p:spPr>
          <a:xfrm>
            <a:off x="475919" y="1771570"/>
            <a:ext cx="5153660" cy="3696335"/>
          </a:xfrm>
          <a:custGeom>
            <a:rect b="b" l="l" r="r" t="t"/>
            <a:pathLst>
              <a:path extrusionOk="0" h="3696335" w="5153660">
                <a:moveTo>
                  <a:pt x="5057279" y="0"/>
                </a:moveTo>
                <a:lnTo>
                  <a:pt x="96126" y="0"/>
                </a:lnTo>
                <a:lnTo>
                  <a:pt x="89636" y="723"/>
                </a:lnTo>
                <a:lnTo>
                  <a:pt x="82804" y="1803"/>
                </a:lnTo>
                <a:lnTo>
                  <a:pt x="76314" y="3238"/>
                </a:lnTo>
                <a:lnTo>
                  <a:pt x="69837" y="5041"/>
                </a:lnTo>
                <a:lnTo>
                  <a:pt x="63715" y="7924"/>
                </a:lnTo>
                <a:lnTo>
                  <a:pt x="57238" y="10439"/>
                </a:lnTo>
                <a:lnTo>
                  <a:pt x="21234" y="39954"/>
                </a:lnTo>
                <a:lnTo>
                  <a:pt x="17640" y="45720"/>
                </a:lnTo>
                <a:lnTo>
                  <a:pt x="13677" y="51117"/>
                </a:lnTo>
                <a:lnTo>
                  <a:pt x="723" y="89636"/>
                </a:lnTo>
                <a:lnTo>
                  <a:pt x="0" y="96481"/>
                </a:lnTo>
                <a:lnTo>
                  <a:pt x="0" y="3593160"/>
                </a:lnTo>
                <a:lnTo>
                  <a:pt x="0" y="3599992"/>
                </a:lnTo>
                <a:lnTo>
                  <a:pt x="10439" y="3638880"/>
                </a:lnTo>
                <a:lnTo>
                  <a:pt x="34925" y="3670554"/>
                </a:lnTo>
                <a:lnTo>
                  <a:pt x="69837" y="3690721"/>
                </a:lnTo>
                <a:lnTo>
                  <a:pt x="96126" y="3696119"/>
                </a:lnTo>
                <a:lnTo>
                  <a:pt x="5057279" y="3696119"/>
                </a:lnTo>
                <a:lnTo>
                  <a:pt x="5096154" y="3685679"/>
                </a:lnTo>
                <a:lnTo>
                  <a:pt x="5107686" y="3678478"/>
                </a:lnTo>
                <a:lnTo>
                  <a:pt x="5113439" y="3674884"/>
                </a:lnTo>
                <a:lnTo>
                  <a:pt x="5140083" y="3644633"/>
                </a:lnTo>
                <a:lnTo>
                  <a:pt x="5153037" y="3606482"/>
                </a:lnTo>
                <a:lnTo>
                  <a:pt x="5153406" y="3599992"/>
                </a:lnTo>
                <a:lnTo>
                  <a:pt x="5153406" y="96481"/>
                </a:lnTo>
                <a:lnTo>
                  <a:pt x="5140083" y="51117"/>
                </a:lnTo>
                <a:lnTo>
                  <a:pt x="5136121" y="45720"/>
                </a:lnTo>
                <a:lnTo>
                  <a:pt x="5132514" y="39954"/>
                </a:lnTo>
                <a:lnTo>
                  <a:pt x="5107686" y="17284"/>
                </a:lnTo>
                <a:lnTo>
                  <a:pt x="5102275" y="13322"/>
                </a:lnTo>
                <a:lnTo>
                  <a:pt x="5096154" y="10439"/>
                </a:lnTo>
                <a:lnTo>
                  <a:pt x="5090045" y="7924"/>
                </a:lnTo>
                <a:lnTo>
                  <a:pt x="5083924" y="5041"/>
                </a:lnTo>
                <a:lnTo>
                  <a:pt x="5077434" y="3238"/>
                </a:lnTo>
                <a:lnTo>
                  <a:pt x="5070602" y="1803"/>
                </a:lnTo>
                <a:lnTo>
                  <a:pt x="5064125" y="723"/>
                </a:lnTo>
                <a:lnTo>
                  <a:pt x="5057279" y="0"/>
                </a:lnTo>
                <a:close/>
              </a:path>
            </a:pathLst>
          </a:custGeom>
          <a:solidFill>
            <a:srgbClr val="5D97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"/>
          <p:cNvSpPr txBox="1"/>
          <p:nvPr>
            <p:ph type="title"/>
          </p:nvPr>
        </p:nvSpPr>
        <p:spPr>
          <a:xfrm>
            <a:off x="635300" y="580225"/>
            <a:ext cx="86421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BLE Protocol Specification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5933884" y="2847971"/>
            <a:ext cx="4906010" cy="534035"/>
          </a:xfrm>
          <a:custGeom>
            <a:rect b="b" l="l" r="r" t="t"/>
            <a:pathLst>
              <a:path extrusionOk="0" h="534035" w="4906009">
                <a:moveTo>
                  <a:pt x="4905718" y="51841"/>
                </a:moveTo>
                <a:lnTo>
                  <a:pt x="4904270" y="44272"/>
                </a:lnTo>
                <a:lnTo>
                  <a:pt x="4902962" y="41148"/>
                </a:lnTo>
                <a:lnTo>
                  <a:pt x="4902835" y="40678"/>
                </a:lnTo>
                <a:lnTo>
                  <a:pt x="4901285" y="37084"/>
                </a:lnTo>
                <a:lnTo>
                  <a:pt x="4898161" y="29514"/>
                </a:lnTo>
                <a:lnTo>
                  <a:pt x="4893830" y="23037"/>
                </a:lnTo>
                <a:lnTo>
                  <a:pt x="4890986" y="20205"/>
                </a:lnTo>
                <a:lnTo>
                  <a:pt x="4888255" y="17462"/>
                </a:lnTo>
                <a:lnTo>
                  <a:pt x="4885550" y="14757"/>
                </a:lnTo>
                <a:lnTo>
                  <a:pt x="4882680" y="11874"/>
                </a:lnTo>
                <a:lnTo>
                  <a:pt x="4876190" y="7556"/>
                </a:lnTo>
                <a:lnTo>
                  <a:pt x="4872952" y="6223"/>
                </a:lnTo>
                <a:lnTo>
                  <a:pt x="4872240" y="5753"/>
                </a:lnTo>
                <a:lnTo>
                  <a:pt x="4865040" y="2882"/>
                </a:lnTo>
                <a:lnTo>
                  <a:pt x="4864620" y="2768"/>
                </a:lnTo>
                <a:lnTo>
                  <a:pt x="4861433" y="1435"/>
                </a:lnTo>
                <a:lnTo>
                  <a:pt x="4853521" y="0"/>
                </a:lnTo>
                <a:lnTo>
                  <a:pt x="4849558" y="0"/>
                </a:lnTo>
                <a:lnTo>
                  <a:pt x="56159" y="0"/>
                </a:lnTo>
                <a:lnTo>
                  <a:pt x="52197" y="0"/>
                </a:lnTo>
                <a:lnTo>
                  <a:pt x="44272" y="1435"/>
                </a:lnTo>
                <a:lnTo>
                  <a:pt x="40678" y="2882"/>
                </a:lnTo>
                <a:lnTo>
                  <a:pt x="37071" y="4318"/>
                </a:lnTo>
                <a:lnTo>
                  <a:pt x="33477" y="5753"/>
                </a:lnTo>
                <a:lnTo>
                  <a:pt x="32258" y="6489"/>
                </a:lnTo>
                <a:lnTo>
                  <a:pt x="29870" y="7556"/>
                </a:lnTo>
                <a:lnTo>
                  <a:pt x="23037" y="11874"/>
                </a:lnTo>
                <a:lnTo>
                  <a:pt x="17640" y="17272"/>
                </a:lnTo>
                <a:lnTo>
                  <a:pt x="14757" y="20154"/>
                </a:lnTo>
                <a:lnTo>
                  <a:pt x="11874" y="23037"/>
                </a:lnTo>
                <a:lnTo>
                  <a:pt x="7556" y="29514"/>
                </a:lnTo>
                <a:lnTo>
                  <a:pt x="1435" y="44272"/>
                </a:lnTo>
                <a:lnTo>
                  <a:pt x="0" y="51841"/>
                </a:lnTo>
                <a:lnTo>
                  <a:pt x="0" y="55803"/>
                </a:lnTo>
                <a:lnTo>
                  <a:pt x="0" y="473760"/>
                </a:lnTo>
                <a:lnTo>
                  <a:pt x="0" y="477354"/>
                </a:lnTo>
                <a:lnTo>
                  <a:pt x="0" y="481672"/>
                </a:lnTo>
                <a:lnTo>
                  <a:pt x="1435" y="489242"/>
                </a:lnTo>
                <a:lnTo>
                  <a:pt x="4673" y="496443"/>
                </a:lnTo>
                <a:lnTo>
                  <a:pt x="7556" y="503999"/>
                </a:lnTo>
                <a:lnTo>
                  <a:pt x="11874" y="510476"/>
                </a:lnTo>
                <a:lnTo>
                  <a:pt x="14224" y="512686"/>
                </a:lnTo>
                <a:lnTo>
                  <a:pt x="14757" y="513359"/>
                </a:lnTo>
                <a:lnTo>
                  <a:pt x="17640" y="515874"/>
                </a:lnTo>
                <a:lnTo>
                  <a:pt x="52197" y="533514"/>
                </a:lnTo>
                <a:lnTo>
                  <a:pt x="56159" y="533514"/>
                </a:lnTo>
                <a:lnTo>
                  <a:pt x="4849558" y="533514"/>
                </a:lnTo>
                <a:lnTo>
                  <a:pt x="4853521" y="533514"/>
                </a:lnTo>
                <a:lnTo>
                  <a:pt x="4861433" y="532079"/>
                </a:lnTo>
                <a:lnTo>
                  <a:pt x="4864608" y="530771"/>
                </a:lnTo>
                <a:lnTo>
                  <a:pt x="4865040" y="530631"/>
                </a:lnTo>
                <a:lnTo>
                  <a:pt x="4868634" y="529196"/>
                </a:lnTo>
                <a:lnTo>
                  <a:pt x="4869866" y="528586"/>
                </a:lnTo>
                <a:lnTo>
                  <a:pt x="4876190" y="525957"/>
                </a:lnTo>
                <a:lnTo>
                  <a:pt x="4882680" y="521639"/>
                </a:lnTo>
                <a:lnTo>
                  <a:pt x="4884915" y="519252"/>
                </a:lnTo>
                <a:lnTo>
                  <a:pt x="4885550" y="518756"/>
                </a:lnTo>
                <a:lnTo>
                  <a:pt x="4888077" y="515874"/>
                </a:lnTo>
                <a:lnTo>
                  <a:pt x="4890960" y="513359"/>
                </a:lnTo>
                <a:lnTo>
                  <a:pt x="4891494" y="512660"/>
                </a:lnTo>
                <a:lnTo>
                  <a:pt x="4893830" y="510476"/>
                </a:lnTo>
                <a:lnTo>
                  <a:pt x="4898161" y="503999"/>
                </a:lnTo>
                <a:lnTo>
                  <a:pt x="4901031" y="496443"/>
                </a:lnTo>
                <a:lnTo>
                  <a:pt x="4902835" y="492836"/>
                </a:lnTo>
                <a:lnTo>
                  <a:pt x="4903190" y="491629"/>
                </a:lnTo>
                <a:lnTo>
                  <a:pt x="4904270" y="489242"/>
                </a:lnTo>
                <a:lnTo>
                  <a:pt x="4905718" y="481672"/>
                </a:lnTo>
                <a:lnTo>
                  <a:pt x="4905718" y="477354"/>
                </a:lnTo>
                <a:lnTo>
                  <a:pt x="4905718" y="55803"/>
                </a:lnTo>
                <a:lnTo>
                  <a:pt x="4905718" y="51841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5933884" y="4038495"/>
            <a:ext cx="4906010" cy="534035"/>
          </a:xfrm>
          <a:custGeom>
            <a:rect b="b" l="l" r="r" t="t"/>
            <a:pathLst>
              <a:path extrusionOk="0" h="534035" w="4906009">
                <a:moveTo>
                  <a:pt x="4905718" y="51828"/>
                </a:moveTo>
                <a:lnTo>
                  <a:pt x="4904270" y="44272"/>
                </a:lnTo>
                <a:lnTo>
                  <a:pt x="4903190" y="41897"/>
                </a:lnTo>
                <a:lnTo>
                  <a:pt x="4902835" y="40678"/>
                </a:lnTo>
                <a:lnTo>
                  <a:pt x="4901031" y="37071"/>
                </a:lnTo>
                <a:lnTo>
                  <a:pt x="4898161" y="29514"/>
                </a:lnTo>
                <a:lnTo>
                  <a:pt x="4893830" y="23037"/>
                </a:lnTo>
                <a:lnTo>
                  <a:pt x="4891494" y="20866"/>
                </a:lnTo>
                <a:lnTo>
                  <a:pt x="4890960" y="20154"/>
                </a:lnTo>
                <a:lnTo>
                  <a:pt x="4888077" y="17640"/>
                </a:lnTo>
                <a:lnTo>
                  <a:pt x="4885550" y="14757"/>
                </a:lnTo>
                <a:lnTo>
                  <a:pt x="4884902" y="14262"/>
                </a:lnTo>
                <a:lnTo>
                  <a:pt x="4882680" y="11874"/>
                </a:lnTo>
                <a:lnTo>
                  <a:pt x="4876190" y="7556"/>
                </a:lnTo>
                <a:lnTo>
                  <a:pt x="4868634" y="4673"/>
                </a:lnTo>
                <a:lnTo>
                  <a:pt x="4865040" y="2870"/>
                </a:lnTo>
                <a:lnTo>
                  <a:pt x="4863795" y="2501"/>
                </a:lnTo>
                <a:lnTo>
                  <a:pt x="4861433" y="1435"/>
                </a:lnTo>
                <a:lnTo>
                  <a:pt x="4853876" y="0"/>
                </a:lnTo>
                <a:lnTo>
                  <a:pt x="4849558" y="0"/>
                </a:lnTo>
                <a:lnTo>
                  <a:pt x="56159" y="0"/>
                </a:lnTo>
                <a:lnTo>
                  <a:pt x="52197" y="0"/>
                </a:lnTo>
                <a:lnTo>
                  <a:pt x="44272" y="1435"/>
                </a:lnTo>
                <a:lnTo>
                  <a:pt x="41884" y="2514"/>
                </a:lnTo>
                <a:lnTo>
                  <a:pt x="40678" y="2870"/>
                </a:lnTo>
                <a:lnTo>
                  <a:pt x="37071" y="4673"/>
                </a:lnTo>
                <a:lnTo>
                  <a:pt x="33477" y="6108"/>
                </a:lnTo>
                <a:lnTo>
                  <a:pt x="29870" y="7556"/>
                </a:lnTo>
                <a:lnTo>
                  <a:pt x="23037" y="11874"/>
                </a:lnTo>
                <a:lnTo>
                  <a:pt x="17640" y="17640"/>
                </a:lnTo>
                <a:lnTo>
                  <a:pt x="14757" y="20154"/>
                </a:lnTo>
                <a:lnTo>
                  <a:pt x="14224" y="20840"/>
                </a:lnTo>
                <a:lnTo>
                  <a:pt x="11874" y="23037"/>
                </a:lnTo>
                <a:lnTo>
                  <a:pt x="7556" y="29514"/>
                </a:lnTo>
                <a:lnTo>
                  <a:pt x="4673" y="37071"/>
                </a:lnTo>
                <a:lnTo>
                  <a:pt x="1435" y="44272"/>
                </a:lnTo>
                <a:lnTo>
                  <a:pt x="0" y="51828"/>
                </a:lnTo>
                <a:lnTo>
                  <a:pt x="0" y="56159"/>
                </a:lnTo>
                <a:lnTo>
                  <a:pt x="0" y="473392"/>
                </a:lnTo>
                <a:lnTo>
                  <a:pt x="0" y="477354"/>
                </a:lnTo>
                <a:lnTo>
                  <a:pt x="0" y="481317"/>
                </a:lnTo>
                <a:lnTo>
                  <a:pt x="1435" y="488873"/>
                </a:lnTo>
                <a:lnTo>
                  <a:pt x="7556" y="503999"/>
                </a:lnTo>
                <a:lnTo>
                  <a:pt x="11874" y="510476"/>
                </a:lnTo>
                <a:lnTo>
                  <a:pt x="14757" y="513359"/>
                </a:lnTo>
                <a:lnTo>
                  <a:pt x="23037" y="521639"/>
                </a:lnTo>
                <a:lnTo>
                  <a:pt x="29870" y="525957"/>
                </a:lnTo>
                <a:lnTo>
                  <a:pt x="32600" y="527189"/>
                </a:lnTo>
                <a:lnTo>
                  <a:pt x="33477" y="527748"/>
                </a:lnTo>
                <a:lnTo>
                  <a:pt x="36880" y="529120"/>
                </a:lnTo>
                <a:lnTo>
                  <a:pt x="37071" y="529196"/>
                </a:lnTo>
                <a:lnTo>
                  <a:pt x="44272" y="532079"/>
                </a:lnTo>
                <a:lnTo>
                  <a:pt x="52197" y="533514"/>
                </a:lnTo>
                <a:lnTo>
                  <a:pt x="56159" y="533514"/>
                </a:lnTo>
                <a:lnTo>
                  <a:pt x="4849558" y="533514"/>
                </a:lnTo>
                <a:lnTo>
                  <a:pt x="4853521" y="533514"/>
                </a:lnTo>
                <a:lnTo>
                  <a:pt x="4861433" y="532079"/>
                </a:lnTo>
                <a:lnTo>
                  <a:pt x="4864620" y="530758"/>
                </a:lnTo>
                <a:lnTo>
                  <a:pt x="4865040" y="530631"/>
                </a:lnTo>
                <a:lnTo>
                  <a:pt x="4872240" y="527748"/>
                </a:lnTo>
                <a:lnTo>
                  <a:pt x="4873053" y="527265"/>
                </a:lnTo>
                <a:lnTo>
                  <a:pt x="4876190" y="525957"/>
                </a:lnTo>
                <a:lnTo>
                  <a:pt x="4882680" y="521639"/>
                </a:lnTo>
                <a:lnTo>
                  <a:pt x="4885550" y="518756"/>
                </a:lnTo>
                <a:lnTo>
                  <a:pt x="4888255" y="516064"/>
                </a:lnTo>
                <a:lnTo>
                  <a:pt x="4890960" y="513359"/>
                </a:lnTo>
                <a:lnTo>
                  <a:pt x="4893830" y="510476"/>
                </a:lnTo>
                <a:lnTo>
                  <a:pt x="4898161" y="503999"/>
                </a:lnTo>
                <a:lnTo>
                  <a:pt x="4901209" y="496443"/>
                </a:lnTo>
                <a:lnTo>
                  <a:pt x="4902835" y="492480"/>
                </a:lnTo>
                <a:lnTo>
                  <a:pt x="4902886" y="492277"/>
                </a:lnTo>
                <a:lnTo>
                  <a:pt x="4904270" y="488873"/>
                </a:lnTo>
                <a:lnTo>
                  <a:pt x="4905718" y="481317"/>
                </a:lnTo>
                <a:lnTo>
                  <a:pt x="4905718" y="477354"/>
                </a:lnTo>
                <a:lnTo>
                  <a:pt x="4905718" y="56159"/>
                </a:lnTo>
                <a:lnTo>
                  <a:pt x="4905718" y="51828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635300" y="2076524"/>
            <a:ext cx="4115400" cy="1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Connection Parameters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None/>
            </a:pPr>
            <a:r>
              <a:rPr b="1" lang="en-US" sz="1350">
                <a:latin typeface="Times New Roman"/>
                <a:ea typeface="Times New Roman"/>
                <a:cs typeface="Times New Roman"/>
                <a:sym typeface="Times New Roman"/>
              </a:rPr>
              <a:t>Service UUID</a:t>
            </a:r>
            <a:r>
              <a:rPr lang="en-US" sz="1350">
                <a:latin typeface="Times New Roman"/>
                <a:ea typeface="Times New Roman"/>
                <a:cs typeface="Times New Roman"/>
                <a:sym typeface="Times New Roman"/>
              </a:rPr>
              <a:t>: Custom 128-bit identifier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50"/>
              </a:spcBef>
              <a:spcAft>
                <a:spcPts val="0"/>
              </a:spcAft>
              <a:buNone/>
            </a:pPr>
            <a:r>
              <a:rPr b="1" lang="en-US" sz="1350">
                <a:latin typeface="Times New Roman"/>
                <a:ea typeface="Times New Roman"/>
                <a:cs typeface="Times New Roman"/>
                <a:sym typeface="Times New Roman"/>
              </a:rPr>
              <a:t>Characteristic UUID</a:t>
            </a:r>
            <a:r>
              <a:rPr lang="en-US" sz="1350">
                <a:latin typeface="Times New Roman"/>
                <a:ea typeface="Times New Roman"/>
                <a:cs typeface="Times New Roman"/>
                <a:sym typeface="Times New Roman"/>
              </a:rPr>
              <a:t>: Write-enabled data endpoint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b="1" lang="en-US" sz="1350">
                <a:latin typeface="Times New Roman"/>
                <a:ea typeface="Times New Roman"/>
                <a:cs typeface="Times New Roman"/>
                <a:sym typeface="Times New Roman"/>
              </a:rPr>
              <a:t>Payload Format:</a:t>
            </a:r>
            <a:r>
              <a:rPr lang="en-US" sz="1350">
                <a:latin typeface="Times New Roman"/>
                <a:ea typeface="Times New Roman"/>
                <a:cs typeface="Times New Roman"/>
                <a:sym typeface="Times New Roman"/>
              </a:rPr>
              <a:t> Pipe-delimited string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6083896" y="4178068"/>
            <a:ext cx="1528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Milk|36|500ml|12</a:t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5920816" y="1926282"/>
            <a:ext cx="3356700" cy="17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latin typeface="Times New Roman"/>
                <a:ea typeface="Times New Roman"/>
                <a:cs typeface="Times New Roman"/>
                <a:sym typeface="Times New Roman"/>
              </a:rPr>
              <a:t>Data Structure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Messages follow a simple parsing format: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52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ProductName|Price|Qty|Discount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transmission: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5920816" y="4697620"/>
            <a:ext cx="46665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field separated by pipe character for straightforward firmware parsing with minimal processing overhead.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/>
          <p:nvPr/>
        </p:nvSpPr>
        <p:spPr>
          <a:xfrm>
            <a:off x="0" y="9"/>
            <a:ext cx="11430635" cy="6439535"/>
          </a:xfrm>
          <a:custGeom>
            <a:rect b="b" l="l" r="r" t="t"/>
            <a:pathLst>
              <a:path extrusionOk="0" h="6439535" w="11430635">
                <a:moveTo>
                  <a:pt x="11430355" y="0"/>
                </a:moveTo>
                <a:lnTo>
                  <a:pt x="0" y="0"/>
                </a:lnTo>
                <a:lnTo>
                  <a:pt x="0" y="6438963"/>
                </a:lnTo>
                <a:lnTo>
                  <a:pt x="11430355" y="6438963"/>
                </a:lnTo>
                <a:lnTo>
                  <a:pt x="114303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677" y="2427132"/>
            <a:ext cx="1059484" cy="105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>
            <p:ph type="title"/>
          </p:nvPr>
        </p:nvSpPr>
        <p:spPr>
          <a:xfrm>
            <a:off x="587738" y="392634"/>
            <a:ext cx="102552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9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Gateway Controller Capabilities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8680" y="2427132"/>
            <a:ext cx="1059484" cy="105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587425" y="3679110"/>
            <a:ext cx="2270100" cy="11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Dashboard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342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Mobile-friendly interface for label data entry and system monitoring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8314" y="2427132"/>
            <a:ext cx="1059484" cy="105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3198495" y="3679110"/>
            <a:ext cx="1980000" cy="11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MQTT Integration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2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Adafruit IO feeds enable remote control and IoT platform connectivity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8316" y="2427132"/>
            <a:ext cx="1059484" cy="105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 txBox="1"/>
          <p:nvPr/>
        </p:nvSpPr>
        <p:spPr>
          <a:xfrm>
            <a:off x="5809576" y="3679110"/>
            <a:ext cx="1983000" cy="11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 Central Mode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just">
              <a:lnSpc>
                <a:spcPct val="1342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scanning and connection to shelf label peripherals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8420658" y="3679110"/>
            <a:ext cx="2280900" cy="11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OTA Updates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2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Wireless firmware upgrades without physical access to hardware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>
            <p:ph type="title"/>
          </p:nvPr>
        </p:nvSpPr>
        <p:spPr>
          <a:xfrm>
            <a:off x="587425" y="975509"/>
            <a:ext cx="102552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7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Web Interface &amp; MQTT Workflow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37920" y="2705046"/>
            <a:ext cx="57785" cy="57785"/>
          </a:xfrm>
          <a:custGeom>
            <a:rect b="b" l="l" r="r" t="t"/>
            <a:pathLst>
              <a:path extrusionOk="0" h="57785" w="57784">
                <a:moveTo>
                  <a:pt x="32753" y="0"/>
                </a:moveTo>
                <a:lnTo>
                  <a:pt x="25196" y="0"/>
                </a:lnTo>
                <a:lnTo>
                  <a:pt x="21602" y="723"/>
                </a:lnTo>
                <a:lnTo>
                  <a:pt x="2159" y="17640"/>
                </a:lnTo>
                <a:lnTo>
                  <a:pt x="723" y="20878"/>
                </a:lnTo>
                <a:lnTo>
                  <a:pt x="0" y="24841"/>
                </a:lnTo>
                <a:lnTo>
                  <a:pt x="0" y="32397"/>
                </a:lnTo>
                <a:lnTo>
                  <a:pt x="723" y="36004"/>
                </a:lnTo>
                <a:lnTo>
                  <a:pt x="2159" y="39242"/>
                </a:lnTo>
                <a:lnTo>
                  <a:pt x="3594" y="42849"/>
                </a:lnTo>
                <a:lnTo>
                  <a:pt x="25196" y="57238"/>
                </a:lnTo>
                <a:lnTo>
                  <a:pt x="32753" y="57238"/>
                </a:lnTo>
                <a:lnTo>
                  <a:pt x="55435" y="39242"/>
                </a:lnTo>
                <a:lnTo>
                  <a:pt x="56883" y="36004"/>
                </a:lnTo>
                <a:lnTo>
                  <a:pt x="57594" y="32397"/>
                </a:lnTo>
                <a:lnTo>
                  <a:pt x="57594" y="28448"/>
                </a:lnTo>
                <a:lnTo>
                  <a:pt x="57594" y="24841"/>
                </a:lnTo>
                <a:lnTo>
                  <a:pt x="56883" y="20878"/>
                </a:lnTo>
                <a:lnTo>
                  <a:pt x="55435" y="17640"/>
                </a:lnTo>
                <a:lnTo>
                  <a:pt x="54000" y="14046"/>
                </a:lnTo>
                <a:lnTo>
                  <a:pt x="51841" y="10807"/>
                </a:lnTo>
                <a:lnTo>
                  <a:pt x="46443" y="5397"/>
                </a:lnTo>
                <a:lnTo>
                  <a:pt x="43561" y="3606"/>
                </a:lnTo>
                <a:lnTo>
                  <a:pt x="36360" y="723"/>
                </a:lnTo>
                <a:lnTo>
                  <a:pt x="32753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637920" y="3038408"/>
            <a:ext cx="57785" cy="57785"/>
          </a:xfrm>
          <a:custGeom>
            <a:rect b="b" l="l" r="r" t="t"/>
            <a:pathLst>
              <a:path extrusionOk="0" h="57785" w="57784">
                <a:moveTo>
                  <a:pt x="32753" y="0"/>
                </a:moveTo>
                <a:lnTo>
                  <a:pt x="25196" y="0"/>
                </a:lnTo>
                <a:lnTo>
                  <a:pt x="21602" y="723"/>
                </a:lnTo>
                <a:lnTo>
                  <a:pt x="2159" y="17995"/>
                </a:lnTo>
                <a:lnTo>
                  <a:pt x="723" y="21247"/>
                </a:lnTo>
                <a:lnTo>
                  <a:pt x="0" y="25196"/>
                </a:lnTo>
                <a:lnTo>
                  <a:pt x="0" y="32766"/>
                </a:lnTo>
                <a:lnTo>
                  <a:pt x="723" y="36360"/>
                </a:lnTo>
                <a:lnTo>
                  <a:pt x="2159" y="39598"/>
                </a:lnTo>
                <a:lnTo>
                  <a:pt x="3594" y="43205"/>
                </a:lnTo>
                <a:lnTo>
                  <a:pt x="5753" y="46443"/>
                </a:lnTo>
                <a:lnTo>
                  <a:pt x="11163" y="51841"/>
                </a:lnTo>
                <a:lnTo>
                  <a:pt x="14033" y="53644"/>
                </a:lnTo>
                <a:lnTo>
                  <a:pt x="17995" y="55079"/>
                </a:lnTo>
                <a:lnTo>
                  <a:pt x="21602" y="56515"/>
                </a:lnTo>
                <a:lnTo>
                  <a:pt x="25196" y="57238"/>
                </a:lnTo>
                <a:lnTo>
                  <a:pt x="32753" y="57238"/>
                </a:lnTo>
                <a:lnTo>
                  <a:pt x="55435" y="39598"/>
                </a:lnTo>
                <a:lnTo>
                  <a:pt x="56883" y="36360"/>
                </a:lnTo>
                <a:lnTo>
                  <a:pt x="57594" y="32766"/>
                </a:lnTo>
                <a:lnTo>
                  <a:pt x="57594" y="28803"/>
                </a:lnTo>
                <a:lnTo>
                  <a:pt x="57594" y="25196"/>
                </a:lnTo>
                <a:lnTo>
                  <a:pt x="56883" y="21247"/>
                </a:lnTo>
                <a:lnTo>
                  <a:pt x="55435" y="17995"/>
                </a:lnTo>
                <a:lnTo>
                  <a:pt x="54000" y="14401"/>
                </a:lnTo>
                <a:lnTo>
                  <a:pt x="51841" y="11163"/>
                </a:lnTo>
                <a:lnTo>
                  <a:pt x="49314" y="8636"/>
                </a:lnTo>
                <a:lnTo>
                  <a:pt x="43561" y="3606"/>
                </a:lnTo>
                <a:lnTo>
                  <a:pt x="36360" y="723"/>
                </a:lnTo>
                <a:lnTo>
                  <a:pt x="32753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637920" y="3371770"/>
            <a:ext cx="57785" cy="57785"/>
          </a:xfrm>
          <a:custGeom>
            <a:rect b="b" l="l" r="r" t="t"/>
            <a:pathLst>
              <a:path extrusionOk="0" h="57785" w="57784">
                <a:moveTo>
                  <a:pt x="32753" y="0"/>
                </a:moveTo>
                <a:lnTo>
                  <a:pt x="25196" y="0"/>
                </a:lnTo>
                <a:lnTo>
                  <a:pt x="21602" y="723"/>
                </a:lnTo>
                <a:lnTo>
                  <a:pt x="17995" y="2159"/>
                </a:lnTo>
                <a:lnTo>
                  <a:pt x="14033" y="3594"/>
                </a:lnTo>
                <a:lnTo>
                  <a:pt x="2159" y="17995"/>
                </a:lnTo>
                <a:lnTo>
                  <a:pt x="723" y="21234"/>
                </a:lnTo>
                <a:lnTo>
                  <a:pt x="0" y="25196"/>
                </a:lnTo>
                <a:lnTo>
                  <a:pt x="0" y="32753"/>
                </a:lnTo>
                <a:lnTo>
                  <a:pt x="723" y="36360"/>
                </a:lnTo>
                <a:lnTo>
                  <a:pt x="2159" y="39598"/>
                </a:lnTo>
                <a:lnTo>
                  <a:pt x="3594" y="43192"/>
                </a:lnTo>
                <a:lnTo>
                  <a:pt x="5753" y="46443"/>
                </a:lnTo>
                <a:lnTo>
                  <a:pt x="11163" y="51841"/>
                </a:lnTo>
                <a:lnTo>
                  <a:pt x="14033" y="53644"/>
                </a:lnTo>
                <a:lnTo>
                  <a:pt x="17995" y="55079"/>
                </a:lnTo>
                <a:lnTo>
                  <a:pt x="21602" y="56514"/>
                </a:lnTo>
                <a:lnTo>
                  <a:pt x="25196" y="57238"/>
                </a:lnTo>
                <a:lnTo>
                  <a:pt x="32753" y="57238"/>
                </a:lnTo>
                <a:lnTo>
                  <a:pt x="55435" y="39598"/>
                </a:lnTo>
                <a:lnTo>
                  <a:pt x="56883" y="36360"/>
                </a:lnTo>
                <a:lnTo>
                  <a:pt x="57594" y="32753"/>
                </a:lnTo>
                <a:lnTo>
                  <a:pt x="57594" y="28803"/>
                </a:lnTo>
                <a:lnTo>
                  <a:pt x="57594" y="25196"/>
                </a:lnTo>
                <a:lnTo>
                  <a:pt x="56883" y="21234"/>
                </a:lnTo>
                <a:lnTo>
                  <a:pt x="55435" y="17995"/>
                </a:lnTo>
                <a:lnTo>
                  <a:pt x="54000" y="14401"/>
                </a:lnTo>
                <a:lnTo>
                  <a:pt x="36360" y="723"/>
                </a:lnTo>
                <a:lnTo>
                  <a:pt x="32753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637920" y="3705133"/>
            <a:ext cx="57785" cy="57785"/>
          </a:xfrm>
          <a:custGeom>
            <a:rect b="b" l="l" r="r" t="t"/>
            <a:pathLst>
              <a:path extrusionOk="0" h="57785" w="57784">
                <a:moveTo>
                  <a:pt x="32753" y="0"/>
                </a:moveTo>
                <a:lnTo>
                  <a:pt x="25196" y="0"/>
                </a:lnTo>
                <a:lnTo>
                  <a:pt x="21602" y="711"/>
                </a:lnTo>
                <a:lnTo>
                  <a:pt x="17995" y="2158"/>
                </a:lnTo>
                <a:lnTo>
                  <a:pt x="14033" y="3594"/>
                </a:lnTo>
                <a:lnTo>
                  <a:pt x="0" y="25196"/>
                </a:lnTo>
                <a:lnTo>
                  <a:pt x="0" y="32753"/>
                </a:lnTo>
                <a:lnTo>
                  <a:pt x="17995" y="55079"/>
                </a:lnTo>
                <a:lnTo>
                  <a:pt x="21602" y="56870"/>
                </a:lnTo>
                <a:lnTo>
                  <a:pt x="25196" y="57594"/>
                </a:lnTo>
                <a:lnTo>
                  <a:pt x="32753" y="57594"/>
                </a:lnTo>
                <a:lnTo>
                  <a:pt x="36360" y="56870"/>
                </a:lnTo>
                <a:lnTo>
                  <a:pt x="39954" y="55079"/>
                </a:lnTo>
                <a:lnTo>
                  <a:pt x="43561" y="53632"/>
                </a:lnTo>
                <a:lnTo>
                  <a:pt x="57594" y="32753"/>
                </a:lnTo>
                <a:lnTo>
                  <a:pt x="57594" y="28790"/>
                </a:lnTo>
                <a:lnTo>
                  <a:pt x="57594" y="25196"/>
                </a:lnTo>
                <a:lnTo>
                  <a:pt x="36360" y="711"/>
                </a:lnTo>
                <a:lnTo>
                  <a:pt x="32753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587425" y="2135794"/>
            <a:ext cx="4010100" cy="22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latin typeface="Times New Roman"/>
                <a:ea typeface="Times New Roman"/>
                <a:cs typeface="Times New Roman"/>
                <a:sym typeface="Times New Roman"/>
              </a:rPr>
              <a:t>Dashboard Routes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638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– Sales dashboard for pushing label data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638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/ota – System version and update information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638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/log – Live system logs for debugging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638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/admin – Wi-Fi configuration (auth required)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569595" marR="5080" rtl="0" algn="l">
              <a:lnSpc>
                <a:spcPct val="1297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6429235" y="2609643"/>
            <a:ext cx="810260" cy="229235"/>
          </a:xfrm>
          <a:custGeom>
            <a:rect b="b" l="l" r="r" t="t"/>
            <a:pathLst>
              <a:path extrusionOk="0" h="229235" w="810259">
                <a:moveTo>
                  <a:pt x="791286" y="0"/>
                </a:moveTo>
                <a:lnTo>
                  <a:pt x="18719" y="0"/>
                </a:lnTo>
                <a:lnTo>
                  <a:pt x="15849" y="723"/>
                </a:lnTo>
                <a:lnTo>
                  <a:pt x="0" y="19088"/>
                </a:lnTo>
                <a:lnTo>
                  <a:pt x="0" y="207721"/>
                </a:lnTo>
                <a:lnTo>
                  <a:pt x="0" y="210248"/>
                </a:lnTo>
                <a:lnTo>
                  <a:pt x="18719" y="228968"/>
                </a:lnTo>
                <a:lnTo>
                  <a:pt x="791286" y="228968"/>
                </a:lnTo>
                <a:lnTo>
                  <a:pt x="810006" y="210248"/>
                </a:lnTo>
                <a:lnTo>
                  <a:pt x="810006" y="19088"/>
                </a:lnTo>
                <a:lnTo>
                  <a:pt x="809282" y="16205"/>
                </a:lnTo>
                <a:lnTo>
                  <a:pt x="807123" y="10807"/>
                </a:lnTo>
                <a:lnTo>
                  <a:pt x="805688" y="8280"/>
                </a:lnTo>
                <a:lnTo>
                  <a:pt x="803529" y="6489"/>
                </a:lnTo>
                <a:lnTo>
                  <a:pt x="801725" y="4330"/>
                </a:lnTo>
                <a:lnTo>
                  <a:pt x="799211" y="2882"/>
                </a:lnTo>
                <a:lnTo>
                  <a:pt x="794169" y="723"/>
                </a:lnTo>
                <a:lnTo>
                  <a:pt x="791286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2797" y="2609643"/>
            <a:ext cx="114477" cy="22896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/>
          <p:nvPr/>
        </p:nvSpPr>
        <p:spPr>
          <a:xfrm>
            <a:off x="6486474" y="4476607"/>
            <a:ext cx="810260" cy="229235"/>
          </a:xfrm>
          <a:custGeom>
            <a:rect b="b" l="l" r="r" t="t"/>
            <a:pathLst>
              <a:path extrusionOk="0" h="229235" w="810259">
                <a:moveTo>
                  <a:pt x="791286" y="0"/>
                </a:moveTo>
                <a:lnTo>
                  <a:pt x="18364" y="0"/>
                </a:lnTo>
                <a:lnTo>
                  <a:pt x="15849" y="368"/>
                </a:lnTo>
                <a:lnTo>
                  <a:pt x="0" y="18719"/>
                </a:lnTo>
                <a:lnTo>
                  <a:pt x="0" y="207365"/>
                </a:lnTo>
                <a:lnTo>
                  <a:pt x="0" y="210248"/>
                </a:lnTo>
                <a:lnTo>
                  <a:pt x="368" y="213118"/>
                </a:lnTo>
                <a:lnTo>
                  <a:pt x="2527" y="218160"/>
                </a:lnTo>
                <a:lnTo>
                  <a:pt x="3962" y="220687"/>
                </a:lnTo>
                <a:lnTo>
                  <a:pt x="6121" y="222478"/>
                </a:lnTo>
                <a:lnTo>
                  <a:pt x="8280" y="224637"/>
                </a:lnTo>
                <a:lnTo>
                  <a:pt x="10452" y="226085"/>
                </a:lnTo>
                <a:lnTo>
                  <a:pt x="12966" y="227164"/>
                </a:lnTo>
                <a:lnTo>
                  <a:pt x="18364" y="228968"/>
                </a:lnTo>
                <a:lnTo>
                  <a:pt x="791286" y="228968"/>
                </a:lnTo>
                <a:lnTo>
                  <a:pt x="794169" y="228244"/>
                </a:lnTo>
                <a:lnTo>
                  <a:pt x="799211" y="226085"/>
                </a:lnTo>
                <a:lnTo>
                  <a:pt x="801725" y="224637"/>
                </a:lnTo>
                <a:lnTo>
                  <a:pt x="803528" y="222478"/>
                </a:lnTo>
                <a:lnTo>
                  <a:pt x="805688" y="220687"/>
                </a:lnTo>
                <a:lnTo>
                  <a:pt x="807123" y="218160"/>
                </a:lnTo>
                <a:lnTo>
                  <a:pt x="809282" y="213118"/>
                </a:lnTo>
                <a:lnTo>
                  <a:pt x="810005" y="210248"/>
                </a:lnTo>
                <a:lnTo>
                  <a:pt x="810005" y="18719"/>
                </a:lnTo>
                <a:lnTo>
                  <a:pt x="794169" y="368"/>
                </a:lnTo>
                <a:lnTo>
                  <a:pt x="791286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7362723" y="4476607"/>
            <a:ext cx="686435" cy="229235"/>
          </a:xfrm>
          <a:custGeom>
            <a:rect b="b" l="l" r="r" t="t"/>
            <a:pathLst>
              <a:path extrusionOk="0" h="229235" w="686434">
                <a:moveTo>
                  <a:pt x="667435" y="0"/>
                </a:moveTo>
                <a:lnTo>
                  <a:pt x="18351" y="0"/>
                </a:lnTo>
                <a:lnTo>
                  <a:pt x="15836" y="368"/>
                </a:lnTo>
                <a:lnTo>
                  <a:pt x="0" y="18719"/>
                </a:lnTo>
                <a:lnTo>
                  <a:pt x="0" y="207365"/>
                </a:lnTo>
                <a:lnTo>
                  <a:pt x="0" y="210248"/>
                </a:lnTo>
                <a:lnTo>
                  <a:pt x="18351" y="228968"/>
                </a:lnTo>
                <a:lnTo>
                  <a:pt x="667435" y="228968"/>
                </a:lnTo>
                <a:lnTo>
                  <a:pt x="670318" y="228244"/>
                </a:lnTo>
                <a:lnTo>
                  <a:pt x="675360" y="226085"/>
                </a:lnTo>
                <a:lnTo>
                  <a:pt x="677875" y="224637"/>
                </a:lnTo>
                <a:lnTo>
                  <a:pt x="679678" y="222478"/>
                </a:lnTo>
                <a:lnTo>
                  <a:pt x="681837" y="220687"/>
                </a:lnTo>
                <a:lnTo>
                  <a:pt x="683272" y="218160"/>
                </a:lnTo>
                <a:lnTo>
                  <a:pt x="685431" y="213118"/>
                </a:lnTo>
                <a:lnTo>
                  <a:pt x="686155" y="210248"/>
                </a:lnTo>
                <a:lnTo>
                  <a:pt x="686155" y="18719"/>
                </a:lnTo>
                <a:lnTo>
                  <a:pt x="670318" y="368"/>
                </a:lnTo>
                <a:lnTo>
                  <a:pt x="667435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8115122" y="4476607"/>
            <a:ext cx="819785" cy="229235"/>
          </a:xfrm>
          <a:custGeom>
            <a:rect b="b" l="l" r="r" t="t"/>
            <a:pathLst>
              <a:path extrusionOk="0" h="229235" w="819784">
                <a:moveTo>
                  <a:pt x="801001" y="0"/>
                </a:moveTo>
                <a:lnTo>
                  <a:pt x="18719" y="0"/>
                </a:lnTo>
                <a:lnTo>
                  <a:pt x="15836" y="368"/>
                </a:lnTo>
                <a:lnTo>
                  <a:pt x="0" y="18719"/>
                </a:lnTo>
                <a:lnTo>
                  <a:pt x="0" y="207365"/>
                </a:lnTo>
                <a:lnTo>
                  <a:pt x="0" y="210248"/>
                </a:lnTo>
                <a:lnTo>
                  <a:pt x="18719" y="228968"/>
                </a:lnTo>
                <a:lnTo>
                  <a:pt x="801001" y="228968"/>
                </a:lnTo>
                <a:lnTo>
                  <a:pt x="803516" y="228244"/>
                </a:lnTo>
                <a:lnTo>
                  <a:pt x="808913" y="226085"/>
                </a:lnTo>
                <a:lnTo>
                  <a:pt x="811072" y="224637"/>
                </a:lnTo>
                <a:lnTo>
                  <a:pt x="813231" y="222478"/>
                </a:lnTo>
                <a:lnTo>
                  <a:pt x="815403" y="220687"/>
                </a:lnTo>
                <a:lnTo>
                  <a:pt x="816838" y="218160"/>
                </a:lnTo>
                <a:lnTo>
                  <a:pt x="818997" y="213118"/>
                </a:lnTo>
                <a:lnTo>
                  <a:pt x="819353" y="210248"/>
                </a:lnTo>
                <a:lnTo>
                  <a:pt x="819353" y="18719"/>
                </a:lnTo>
                <a:lnTo>
                  <a:pt x="803516" y="368"/>
                </a:lnTo>
                <a:lnTo>
                  <a:pt x="801001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9010433" y="4476607"/>
            <a:ext cx="734060" cy="229235"/>
          </a:xfrm>
          <a:custGeom>
            <a:rect b="b" l="l" r="r" t="t"/>
            <a:pathLst>
              <a:path extrusionOk="0" h="229235" w="734059">
                <a:moveTo>
                  <a:pt x="715327" y="0"/>
                </a:moveTo>
                <a:lnTo>
                  <a:pt x="18719" y="0"/>
                </a:lnTo>
                <a:lnTo>
                  <a:pt x="15849" y="368"/>
                </a:lnTo>
                <a:lnTo>
                  <a:pt x="0" y="18719"/>
                </a:lnTo>
                <a:lnTo>
                  <a:pt x="0" y="207365"/>
                </a:lnTo>
                <a:lnTo>
                  <a:pt x="0" y="210248"/>
                </a:lnTo>
                <a:lnTo>
                  <a:pt x="723" y="213118"/>
                </a:lnTo>
                <a:lnTo>
                  <a:pt x="2882" y="218160"/>
                </a:lnTo>
                <a:lnTo>
                  <a:pt x="4330" y="220687"/>
                </a:lnTo>
                <a:lnTo>
                  <a:pt x="6489" y="222478"/>
                </a:lnTo>
                <a:lnTo>
                  <a:pt x="8280" y="224637"/>
                </a:lnTo>
                <a:lnTo>
                  <a:pt x="10807" y="226085"/>
                </a:lnTo>
                <a:lnTo>
                  <a:pt x="15849" y="228244"/>
                </a:lnTo>
                <a:lnTo>
                  <a:pt x="18719" y="228968"/>
                </a:lnTo>
                <a:lnTo>
                  <a:pt x="715327" y="228968"/>
                </a:lnTo>
                <a:lnTo>
                  <a:pt x="717842" y="228244"/>
                </a:lnTo>
                <a:lnTo>
                  <a:pt x="723239" y="226085"/>
                </a:lnTo>
                <a:lnTo>
                  <a:pt x="725411" y="224637"/>
                </a:lnTo>
                <a:lnTo>
                  <a:pt x="727570" y="222478"/>
                </a:lnTo>
                <a:lnTo>
                  <a:pt x="729729" y="220687"/>
                </a:lnTo>
                <a:lnTo>
                  <a:pt x="731164" y="218160"/>
                </a:lnTo>
                <a:lnTo>
                  <a:pt x="733323" y="213118"/>
                </a:lnTo>
                <a:lnTo>
                  <a:pt x="733691" y="210248"/>
                </a:lnTo>
                <a:lnTo>
                  <a:pt x="733691" y="18719"/>
                </a:lnTo>
                <a:lnTo>
                  <a:pt x="717842" y="368"/>
                </a:lnTo>
                <a:lnTo>
                  <a:pt x="715327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5920816" y="2135794"/>
            <a:ext cx="3965700" cy="25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latin typeface="Times New Roman"/>
                <a:ea typeface="Times New Roman"/>
                <a:cs typeface="Times New Roman"/>
                <a:sym typeface="Times New Roman"/>
              </a:rPr>
              <a:t>MQTT Feed Pipeline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shelf-send feed receives 1: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685" lvl="0" marL="286385" rtl="0" algn="l">
              <a:lnSpc>
                <a:spcPct val="100000"/>
              </a:lnSpc>
              <a:spcBef>
                <a:spcPts val="1755"/>
              </a:spcBef>
              <a:spcAft>
                <a:spcPts val="0"/>
              </a:spcAft>
              <a:buClr>
                <a:srgbClr val="262424"/>
              </a:buClr>
              <a:buSzPts val="1350"/>
              <a:buFont typeface="Times New Roman"/>
              <a:buAutoNum type="arabicPeriod"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Gateway saves data to Flash storage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685" lvl="0" marL="28638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262424"/>
              </a:buClr>
              <a:buSzPts val="1350"/>
              <a:buFont typeface="Times New Roman"/>
              <a:buAutoNum type="arabicPeriod"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 scan initiated for shelf label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685" lvl="0" marL="28638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262424"/>
              </a:buClr>
              <a:buSzPts val="1350"/>
              <a:buFont typeface="Times New Roman"/>
              <a:buAutoNum type="arabicPeriod"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Formatted packet transmitted via BLE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685" lvl="0" marL="28638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262424"/>
              </a:buClr>
              <a:buSzPts val="1350"/>
              <a:buFont typeface="Times New Roman"/>
              <a:buAutoNum type="arabicPeriod"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 confirmation logged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3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Feeds: shelf-prod, shelf-qty, shelf-price, shelf-disc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623375" y="4417900"/>
            <a:ext cx="4356000" cy="789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69595" marR="5080" rtl="0" algn="l">
              <a:lnSpc>
                <a:spcPct val="1297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via shelf.local using mDNS. Default credentials: admin/admin</a:t>
            </a:r>
            <a:endParaRPr sz="1750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type="title"/>
          </p:nvPr>
        </p:nvSpPr>
        <p:spPr>
          <a:xfrm>
            <a:off x="587425" y="461075"/>
            <a:ext cx="53817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MQTT Data Flow</a:t>
            </a: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599401" y="2209695"/>
            <a:ext cx="4906645" cy="19685"/>
          </a:xfrm>
          <a:custGeom>
            <a:rect b="b" l="l" r="r" t="t"/>
            <a:pathLst>
              <a:path extrusionOk="0" h="19685" w="4906645">
                <a:moveTo>
                  <a:pt x="4906073" y="0"/>
                </a:moveTo>
                <a:lnTo>
                  <a:pt x="0" y="0"/>
                </a:lnTo>
                <a:lnTo>
                  <a:pt x="0" y="19431"/>
                </a:lnTo>
                <a:lnTo>
                  <a:pt x="4906073" y="19431"/>
                </a:lnTo>
                <a:lnTo>
                  <a:pt x="4906073" y="0"/>
                </a:lnTo>
                <a:close/>
              </a:path>
            </a:pathLst>
          </a:custGeom>
          <a:solidFill>
            <a:srgbClr val="DF4E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599401" y="3628450"/>
            <a:ext cx="4906645" cy="20320"/>
          </a:xfrm>
          <a:custGeom>
            <a:rect b="b" l="l" r="r" t="t"/>
            <a:pathLst>
              <a:path extrusionOk="0" h="20320" w="4906645">
                <a:moveTo>
                  <a:pt x="4906073" y="0"/>
                </a:moveTo>
                <a:lnTo>
                  <a:pt x="0" y="0"/>
                </a:lnTo>
                <a:lnTo>
                  <a:pt x="0" y="20154"/>
                </a:lnTo>
                <a:lnTo>
                  <a:pt x="4906073" y="20154"/>
                </a:lnTo>
                <a:lnTo>
                  <a:pt x="4906073" y="0"/>
                </a:lnTo>
                <a:close/>
              </a:path>
            </a:pathLst>
          </a:custGeom>
          <a:solidFill>
            <a:srgbClr val="DF4E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599401" y="5057289"/>
            <a:ext cx="4906645" cy="20320"/>
          </a:xfrm>
          <a:custGeom>
            <a:rect b="b" l="l" r="r" t="t"/>
            <a:pathLst>
              <a:path extrusionOk="0" h="20320" w="4906645">
                <a:moveTo>
                  <a:pt x="4906073" y="0"/>
                </a:moveTo>
                <a:lnTo>
                  <a:pt x="0" y="0"/>
                </a:lnTo>
                <a:lnTo>
                  <a:pt x="0" y="20154"/>
                </a:lnTo>
                <a:lnTo>
                  <a:pt x="4906073" y="20154"/>
                </a:lnTo>
                <a:lnTo>
                  <a:pt x="4906073" y="0"/>
                </a:lnTo>
                <a:close/>
              </a:path>
            </a:pathLst>
          </a:custGeom>
          <a:solidFill>
            <a:srgbClr val="DF4E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599401" y="6476412"/>
            <a:ext cx="4906645" cy="20320"/>
          </a:xfrm>
          <a:custGeom>
            <a:rect b="b" l="l" r="r" t="t"/>
            <a:pathLst>
              <a:path extrusionOk="0" h="20320" w="4906645">
                <a:moveTo>
                  <a:pt x="4906073" y="0"/>
                </a:moveTo>
                <a:lnTo>
                  <a:pt x="0" y="0"/>
                </a:lnTo>
                <a:lnTo>
                  <a:pt x="0" y="20154"/>
                </a:lnTo>
                <a:lnTo>
                  <a:pt x="4906073" y="20154"/>
                </a:lnTo>
                <a:lnTo>
                  <a:pt x="4906073" y="0"/>
                </a:lnTo>
                <a:close/>
              </a:path>
            </a:pathLst>
          </a:custGeom>
          <a:solidFill>
            <a:srgbClr val="DF4E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581659" y="1446755"/>
            <a:ext cx="3558600" cy="57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8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Workflow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Received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rtl="0" algn="l">
              <a:lnSpc>
                <a:spcPct val="100000"/>
              </a:lnSpc>
              <a:spcBef>
                <a:spcPts val="160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MQTT message arrives on subscribed feed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rtl="0" algn="l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Flash Storage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Gateway saves to NVS preferences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 Scan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rtl="0" algn="l">
              <a:lnSpc>
                <a:spcPct val="100000"/>
              </a:lnSpc>
              <a:spcBef>
                <a:spcPts val="160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Gateway scans for shelf label advertisement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rtl="0" algn="l">
              <a:lnSpc>
                <a:spcPct val="100000"/>
              </a:lnSpc>
              <a:spcBef>
                <a:spcPts val="1495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 characteristic write with new values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2" name="Google Shape;212;p18"/>
          <p:cNvGrpSpPr/>
          <p:nvPr/>
        </p:nvGrpSpPr>
        <p:grpSpPr>
          <a:xfrm>
            <a:off x="5809678" y="1487420"/>
            <a:ext cx="5154295" cy="6324600"/>
            <a:chOff x="5809678" y="1487420"/>
            <a:chExt cx="5154295" cy="6324600"/>
          </a:xfrm>
        </p:grpSpPr>
        <p:sp>
          <p:nvSpPr>
            <p:cNvPr id="213" name="Google Shape;213;p18"/>
            <p:cNvSpPr/>
            <p:nvPr/>
          </p:nvSpPr>
          <p:spPr>
            <a:xfrm>
              <a:off x="5809678" y="1487420"/>
              <a:ext cx="5154295" cy="6324600"/>
            </a:xfrm>
            <a:custGeom>
              <a:rect b="b" l="l" r="r" t="t"/>
              <a:pathLst>
                <a:path extrusionOk="0" h="6324600" w="5154295">
                  <a:moveTo>
                    <a:pt x="5135397" y="0"/>
                  </a:moveTo>
                  <a:lnTo>
                    <a:pt x="18719" y="0"/>
                  </a:lnTo>
                  <a:lnTo>
                    <a:pt x="16205" y="355"/>
                  </a:lnTo>
                  <a:lnTo>
                    <a:pt x="0" y="17995"/>
                  </a:lnTo>
                  <a:lnTo>
                    <a:pt x="0" y="6324473"/>
                  </a:lnTo>
                  <a:lnTo>
                    <a:pt x="5154117" y="6324473"/>
                  </a:lnTo>
                  <a:lnTo>
                    <a:pt x="5154117" y="17995"/>
                  </a:lnTo>
                  <a:lnTo>
                    <a:pt x="5153761" y="15836"/>
                  </a:lnTo>
                  <a:lnTo>
                    <a:pt x="5152682" y="12954"/>
                  </a:lnTo>
                  <a:lnTo>
                    <a:pt x="5150878" y="10439"/>
                  </a:lnTo>
                  <a:lnTo>
                    <a:pt x="5149799" y="8280"/>
                  </a:lnTo>
                  <a:lnTo>
                    <a:pt x="5147640" y="5753"/>
                  </a:lnTo>
                  <a:lnTo>
                    <a:pt x="5145481" y="4318"/>
                  </a:lnTo>
                  <a:lnTo>
                    <a:pt x="5143677" y="2514"/>
                  </a:lnTo>
                  <a:lnTo>
                    <a:pt x="5140439" y="1435"/>
                  </a:lnTo>
                  <a:lnTo>
                    <a:pt x="5138280" y="355"/>
                  </a:lnTo>
                  <a:lnTo>
                    <a:pt x="5135397" y="0"/>
                  </a:lnTo>
                  <a:close/>
                </a:path>
              </a:pathLst>
            </a:custGeom>
            <a:solidFill>
              <a:srgbClr val="AB9D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5981039" y="4356319"/>
              <a:ext cx="4811395" cy="29210"/>
            </a:xfrm>
            <a:custGeom>
              <a:rect b="b" l="l" r="r" t="t"/>
              <a:pathLst>
                <a:path extrusionOk="0" h="29210" w="4811395">
                  <a:moveTo>
                    <a:pt x="4811039" y="0"/>
                  </a:moveTo>
                  <a:lnTo>
                    <a:pt x="0" y="0"/>
                  </a:lnTo>
                  <a:lnTo>
                    <a:pt x="0" y="28790"/>
                  </a:lnTo>
                  <a:lnTo>
                    <a:pt x="4811039" y="28790"/>
                  </a:lnTo>
                  <a:lnTo>
                    <a:pt x="48110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5981039" y="4453295"/>
              <a:ext cx="4811395" cy="10160"/>
            </a:xfrm>
            <a:custGeom>
              <a:rect b="b" l="l" r="r" t="t"/>
              <a:pathLst>
                <a:path extrusionOk="0" h="10160" w="4811395">
                  <a:moveTo>
                    <a:pt x="4811039" y="0"/>
                  </a:moveTo>
                  <a:lnTo>
                    <a:pt x="0" y="0"/>
                  </a:lnTo>
                  <a:lnTo>
                    <a:pt x="0" y="9715"/>
                  </a:lnTo>
                  <a:lnTo>
                    <a:pt x="4811039" y="9715"/>
                  </a:lnTo>
                  <a:lnTo>
                    <a:pt x="4811039" y="0"/>
                  </a:lnTo>
                  <a:close/>
                </a:path>
              </a:pathLst>
            </a:custGeom>
            <a:solidFill>
              <a:srgbClr val="EBEBE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18"/>
          <p:cNvSpPr txBox="1"/>
          <p:nvPr/>
        </p:nvSpPr>
        <p:spPr>
          <a:xfrm>
            <a:off x="5969063" y="1446755"/>
            <a:ext cx="2634000" cy="26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MQTT Feed Structure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None/>
            </a:pPr>
            <a:r>
              <a:rPr lang="en-US" sz="1350">
                <a:latin typeface="Times New Roman"/>
                <a:ea typeface="Times New Roman"/>
                <a:cs typeface="Times New Roman"/>
                <a:sym typeface="Times New Roman"/>
              </a:rPr>
              <a:t>shelf-prod: Product name string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49530" rtl="0" algn="l">
              <a:lnSpc>
                <a:spcPct val="20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latin typeface="Times New Roman"/>
                <a:ea typeface="Times New Roman"/>
                <a:cs typeface="Times New Roman"/>
                <a:sym typeface="Times New Roman"/>
              </a:rPr>
              <a:t>shelf-qty: Quantity integer shelf-price: Price float value shelf-disc: Discount percentage shelf-send: Trigger command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49530" rtl="0" algn="l">
              <a:lnSpc>
                <a:spcPct val="20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5972863" y="4572005"/>
            <a:ext cx="48279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spAutoFit/>
          </a:bodyPr>
          <a:lstStyle/>
          <a:p>
            <a:pPr indent="0" lvl="0" marL="12700" marR="5080" rtl="0" algn="l">
              <a:lnSpc>
                <a:spcPct val="13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latin typeface="Times New Roman"/>
                <a:ea typeface="Times New Roman"/>
                <a:cs typeface="Times New Roman"/>
                <a:sym typeface="Times New Roman"/>
              </a:rPr>
              <a:t>The gateway subscribes to all feeds simultaneously, caching values until the send trigger initiates the BLE transmission sequence.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9" title="Screenshot from 2026-01-29 10-01-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350" y="1396750"/>
            <a:ext cx="66484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560825" y="385850"/>
            <a:ext cx="7803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Page</a:t>
            </a:r>
            <a:endParaRPr sz="3350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7261850" y="1396750"/>
            <a:ext cx="3704100" cy="2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Layout Components</a:t>
            </a:r>
            <a:endParaRPr b="1" sz="1750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34200"/>
              </a:lnSpc>
              <a:spcBef>
                <a:spcPts val="105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SSID of Wi-Fi:</a:t>
            </a:r>
            <a:endParaRPr sz="1350">
              <a:solidFill>
                <a:srgbClr val="3737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34200"/>
              </a:lnSpc>
              <a:spcBef>
                <a:spcPts val="105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 of Wi-Fi</a:t>
            </a:r>
            <a:endParaRPr sz="1350">
              <a:solidFill>
                <a:srgbClr val="3737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34200"/>
              </a:lnSpc>
              <a:spcBef>
                <a:spcPts val="1055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737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l">
              <a:lnSpc>
                <a:spcPct val="134200"/>
              </a:lnSpc>
              <a:spcBef>
                <a:spcPts val="105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Whenever user or admin required to change the credentials they can access this page and can change them.</a:t>
            </a:r>
            <a:endParaRPr sz="1350">
              <a:solidFill>
                <a:srgbClr val="3737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/>
          <p:nvPr/>
        </p:nvSpPr>
        <p:spPr>
          <a:xfrm>
            <a:off x="0" y="9"/>
            <a:ext cx="11430000" cy="6439535"/>
          </a:xfrm>
          <a:custGeom>
            <a:rect b="b" l="l" r="r" t="t"/>
            <a:pathLst>
              <a:path extrusionOk="0" h="6439535" w="11430000">
                <a:moveTo>
                  <a:pt x="11429644" y="0"/>
                </a:moveTo>
                <a:lnTo>
                  <a:pt x="0" y="0"/>
                </a:lnTo>
                <a:lnTo>
                  <a:pt x="0" y="6439319"/>
                </a:lnTo>
                <a:lnTo>
                  <a:pt x="11429644" y="6439319"/>
                </a:lnTo>
                <a:lnTo>
                  <a:pt x="114296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125" y="2494810"/>
            <a:ext cx="2999524" cy="199943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/>
          <p:nvPr/>
        </p:nvSpPr>
        <p:spPr>
          <a:xfrm>
            <a:off x="5961964" y="2609288"/>
            <a:ext cx="58419" cy="58419"/>
          </a:xfrm>
          <a:custGeom>
            <a:rect b="b" l="l" r="r" t="t"/>
            <a:pathLst>
              <a:path extrusionOk="0" h="58419" w="58420">
                <a:moveTo>
                  <a:pt x="32753" y="0"/>
                </a:moveTo>
                <a:lnTo>
                  <a:pt x="25552" y="0"/>
                </a:lnTo>
                <a:lnTo>
                  <a:pt x="21589" y="723"/>
                </a:lnTo>
                <a:lnTo>
                  <a:pt x="17995" y="2527"/>
                </a:lnTo>
                <a:lnTo>
                  <a:pt x="14757" y="3962"/>
                </a:lnTo>
                <a:lnTo>
                  <a:pt x="11518" y="6121"/>
                </a:lnTo>
                <a:lnTo>
                  <a:pt x="8635" y="8280"/>
                </a:lnTo>
                <a:lnTo>
                  <a:pt x="6121" y="11163"/>
                </a:lnTo>
                <a:lnTo>
                  <a:pt x="4317" y="14757"/>
                </a:lnTo>
                <a:lnTo>
                  <a:pt x="2158" y="17995"/>
                </a:lnTo>
                <a:lnTo>
                  <a:pt x="1079" y="21958"/>
                </a:lnTo>
                <a:lnTo>
                  <a:pt x="0" y="25196"/>
                </a:lnTo>
                <a:lnTo>
                  <a:pt x="0" y="33121"/>
                </a:lnTo>
                <a:lnTo>
                  <a:pt x="25552" y="58318"/>
                </a:lnTo>
                <a:lnTo>
                  <a:pt x="32753" y="58318"/>
                </a:lnTo>
                <a:lnTo>
                  <a:pt x="55791" y="40678"/>
                </a:lnTo>
                <a:lnTo>
                  <a:pt x="57594" y="36715"/>
                </a:lnTo>
                <a:lnTo>
                  <a:pt x="57950" y="33121"/>
                </a:lnTo>
                <a:lnTo>
                  <a:pt x="57950" y="29159"/>
                </a:lnTo>
                <a:lnTo>
                  <a:pt x="57950" y="25196"/>
                </a:lnTo>
                <a:lnTo>
                  <a:pt x="57594" y="21958"/>
                </a:lnTo>
                <a:lnTo>
                  <a:pt x="55791" y="17995"/>
                </a:lnTo>
                <a:lnTo>
                  <a:pt x="54711" y="14757"/>
                </a:lnTo>
                <a:lnTo>
                  <a:pt x="40309" y="2527"/>
                </a:lnTo>
                <a:lnTo>
                  <a:pt x="36715" y="723"/>
                </a:lnTo>
                <a:lnTo>
                  <a:pt x="32753" y="0"/>
                </a:lnTo>
                <a:close/>
              </a:path>
            </a:pathLst>
          </a:custGeom>
          <a:solidFill>
            <a:srgbClr val="3737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 txBox="1"/>
          <p:nvPr>
            <p:ph type="title"/>
          </p:nvPr>
        </p:nvSpPr>
        <p:spPr>
          <a:xfrm>
            <a:off x="600125" y="688675"/>
            <a:ext cx="95124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Shelf Label: Low-Power BLE + E-Paper</a:t>
            </a: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961964" y="2942650"/>
            <a:ext cx="58419" cy="58419"/>
          </a:xfrm>
          <a:custGeom>
            <a:rect b="b" l="l" r="r" t="t"/>
            <a:pathLst>
              <a:path extrusionOk="0" h="58419" w="58420">
                <a:moveTo>
                  <a:pt x="32753" y="0"/>
                </a:moveTo>
                <a:lnTo>
                  <a:pt x="25552" y="0"/>
                </a:lnTo>
                <a:lnTo>
                  <a:pt x="17995" y="2159"/>
                </a:lnTo>
                <a:lnTo>
                  <a:pt x="0" y="25196"/>
                </a:lnTo>
                <a:lnTo>
                  <a:pt x="0" y="32753"/>
                </a:lnTo>
                <a:lnTo>
                  <a:pt x="25552" y="58318"/>
                </a:lnTo>
                <a:lnTo>
                  <a:pt x="32753" y="58318"/>
                </a:lnTo>
                <a:lnTo>
                  <a:pt x="55791" y="39954"/>
                </a:lnTo>
                <a:lnTo>
                  <a:pt x="57594" y="36715"/>
                </a:lnTo>
                <a:lnTo>
                  <a:pt x="57950" y="32753"/>
                </a:lnTo>
                <a:lnTo>
                  <a:pt x="57950" y="29514"/>
                </a:lnTo>
                <a:lnTo>
                  <a:pt x="57950" y="25196"/>
                </a:lnTo>
                <a:lnTo>
                  <a:pt x="57594" y="21602"/>
                </a:lnTo>
                <a:lnTo>
                  <a:pt x="55791" y="17640"/>
                </a:lnTo>
                <a:lnTo>
                  <a:pt x="54711" y="14401"/>
                </a:lnTo>
                <a:lnTo>
                  <a:pt x="40309" y="2159"/>
                </a:lnTo>
                <a:lnTo>
                  <a:pt x="32753" y="0"/>
                </a:lnTo>
                <a:close/>
              </a:path>
            </a:pathLst>
          </a:custGeom>
          <a:solidFill>
            <a:srgbClr val="3737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5961964" y="3276012"/>
            <a:ext cx="58419" cy="58419"/>
          </a:xfrm>
          <a:custGeom>
            <a:rect b="b" l="l" r="r" t="t"/>
            <a:pathLst>
              <a:path extrusionOk="0" h="58420" w="58420">
                <a:moveTo>
                  <a:pt x="32753" y="0"/>
                </a:moveTo>
                <a:lnTo>
                  <a:pt x="25552" y="0"/>
                </a:lnTo>
                <a:lnTo>
                  <a:pt x="17995" y="2159"/>
                </a:lnTo>
                <a:lnTo>
                  <a:pt x="0" y="25196"/>
                </a:lnTo>
                <a:lnTo>
                  <a:pt x="0" y="32397"/>
                </a:lnTo>
                <a:lnTo>
                  <a:pt x="17995" y="55791"/>
                </a:lnTo>
                <a:lnTo>
                  <a:pt x="21589" y="57594"/>
                </a:lnTo>
                <a:lnTo>
                  <a:pt x="25552" y="58318"/>
                </a:lnTo>
                <a:lnTo>
                  <a:pt x="32753" y="58318"/>
                </a:lnTo>
                <a:lnTo>
                  <a:pt x="36715" y="57594"/>
                </a:lnTo>
                <a:lnTo>
                  <a:pt x="40309" y="55791"/>
                </a:lnTo>
                <a:lnTo>
                  <a:pt x="44272" y="54711"/>
                </a:lnTo>
                <a:lnTo>
                  <a:pt x="47155" y="52552"/>
                </a:lnTo>
                <a:lnTo>
                  <a:pt x="49669" y="49314"/>
                </a:lnTo>
                <a:lnTo>
                  <a:pt x="52552" y="46431"/>
                </a:lnTo>
                <a:lnTo>
                  <a:pt x="54711" y="43916"/>
                </a:lnTo>
                <a:lnTo>
                  <a:pt x="55791" y="39954"/>
                </a:lnTo>
                <a:lnTo>
                  <a:pt x="57594" y="36715"/>
                </a:lnTo>
                <a:lnTo>
                  <a:pt x="57950" y="32397"/>
                </a:lnTo>
                <a:lnTo>
                  <a:pt x="57950" y="29159"/>
                </a:lnTo>
                <a:lnTo>
                  <a:pt x="57950" y="25196"/>
                </a:lnTo>
                <a:lnTo>
                  <a:pt x="57594" y="21602"/>
                </a:lnTo>
                <a:lnTo>
                  <a:pt x="55791" y="17995"/>
                </a:lnTo>
                <a:lnTo>
                  <a:pt x="54711" y="14401"/>
                </a:lnTo>
                <a:lnTo>
                  <a:pt x="52552" y="11518"/>
                </a:lnTo>
                <a:lnTo>
                  <a:pt x="47155" y="6121"/>
                </a:lnTo>
                <a:lnTo>
                  <a:pt x="44272" y="3962"/>
                </a:lnTo>
                <a:lnTo>
                  <a:pt x="40309" y="2159"/>
                </a:lnTo>
                <a:lnTo>
                  <a:pt x="32753" y="0"/>
                </a:lnTo>
                <a:close/>
              </a:path>
            </a:pathLst>
          </a:custGeom>
          <a:solidFill>
            <a:srgbClr val="3737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5961964" y="3609730"/>
            <a:ext cx="58419" cy="57785"/>
          </a:xfrm>
          <a:custGeom>
            <a:rect b="b" l="l" r="r" t="t"/>
            <a:pathLst>
              <a:path extrusionOk="0" h="57785" w="58420">
                <a:moveTo>
                  <a:pt x="32753" y="0"/>
                </a:moveTo>
                <a:lnTo>
                  <a:pt x="25552" y="0"/>
                </a:lnTo>
                <a:lnTo>
                  <a:pt x="21589" y="723"/>
                </a:lnTo>
                <a:lnTo>
                  <a:pt x="1079" y="21602"/>
                </a:lnTo>
                <a:lnTo>
                  <a:pt x="0" y="24841"/>
                </a:lnTo>
                <a:lnTo>
                  <a:pt x="0" y="32753"/>
                </a:lnTo>
                <a:lnTo>
                  <a:pt x="1079" y="36715"/>
                </a:lnTo>
                <a:lnTo>
                  <a:pt x="17995" y="55435"/>
                </a:lnTo>
                <a:lnTo>
                  <a:pt x="21589" y="57238"/>
                </a:lnTo>
                <a:lnTo>
                  <a:pt x="25552" y="57594"/>
                </a:lnTo>
                <a:lnTo>
                  <a:pt x="32753" y="57594"/>
                </a:lnTo>
                <a:lnTo>
                  <a:pt x="36715" y="57238"/>
                </a:lnTo>
                <a:lnTo>
                  <a:pt x="40309" y="55435"/>
                </a:lnTo>
                <a:lnTo>
                  <a:pt x="44272" y="54355"/>
                </a:lnTo>
                <a:lnTo>
                  <a:pt x="47155" y="52196"/>
                </a:lnTo>
                <a:lnTo>
                  <a:pt x="49669" y="49314"/>
                </a:lnTo>
                <a:lnTo>
                  <a:pt x="52552" y="46799"/>
                </a:lnTo>
                <a:lnTo>
                  <a:pt x="54711" y="43916"/>
                </a:lnTo>
                <a:lnTo>
                  <a:pt x="55791" y="39954"/>
                </a:lnTo>
                <a:lnTo>
                  <a:pt x="57594" y="36715"/>
                </a:lnTo>
                <a:lnTo>
                  <a:pt x="57950" y="32753"/>
                </a:lnTo>
                <a:lnTo>
                  <a:pt x="57950" y="29514"/>
                </a:lnTo>
                <a:lnTo>
                  <a:pt x="57950" y="24841"/>
                </a:lnTo>
                <a:lnTo>
                  <a:pt x="57594" y="21602"/>
                </a:lnTo>
                <a:lnTo>
                  <a:pt x="55791" y="17640"/>
                </a:lnTo>
                <a:lnTo>
                  <a:pt x="54711" y="14401"/>
                </a:lnTo>
                <a:lnTo>
                  <a:pt x="36715" y="723"/>
                </a:lnTo>
                <a:lnTo>
                  <a:pt x="32753" y="0"/>
                </a:lnTo>
                <a:close/>
              </a:path>
            </a:pathLst>
          </a:custGeom>
          <a:solidFill>
            <a:srgbClr val="3737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 txBox="1"/>
          <p:nvPr>
            <p:ph idx="1" type="body"/>
          </p:nvPr>
        </p:nvSpPr>
        <p:spPr>
          <a:xfrm>
            <a:off x="5920816" y="2027793"/>
            <a:ext cx="4734600" cy="20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Display Layout Components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6385" marR="2085339" rtl="0" algn="l">
              <a:lnSpc>
                <a:spcPct val="162000"/>
              </a:lnSpc>
              <a:spcBef>
                <a:spcPts val="68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Name (bold, top line) Price (large, center-left) Quantity Available (top-right)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638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737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Discount Badge (when applicable)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200"/>
              </a:lnSpc>
              <a:spcBef>
                <a:spcPts val="1055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237" name="Google Shape;2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31" y="2107803"/>
            <a:ext cx="5525629" cy="4744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>
            <p:ph type="title"/>
          </p:nvPr>
        </p:nvSpPr>
        <p:spPr>
          <a:xfrm>
            <a:off x="587425" y="1119150"/>
            <a:ext cx="100287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Deployment &amp; Future 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87425" y="2097630"/>
            <a:ext cx="4931400" cy="29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latin typeface="Times New Roman"/>
                <a:ea typeface="Times New Roman"/>
                <a:cs typeface="Times New Roman"/>
                <a:sym typeface="Times New Roman"/>
              </a:rPr>
              <a:t>Quick Start Steps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685" lvl="0" marL="28638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Clr>
                <a:srgbClr val="262424"/>
              </a:buClr>
              <a:buSzPts val="1350"/>
              <a:buFont typeface="Times New Roman"/>
              <a:buAutoNum type="arabicPeriod"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Flash shelf label firmware to first ESP32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685" lvl="0" marL="28638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262424"/>
              </a:buClr>
              <a:buSzPts val="1350"/>
              <a:buFont typeface="Times New Roman"/>
              <a:buAutoNum type="arabicPeriod"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Flash gateway firmware to second ESP32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685" lvl="0" marL="28638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262424"/>
              </a:buClr>
              <a:buSzPts val="1350"/>
              <a:buFont typeface="Times New Roman"/>
              <a:buAutoNum type="arabicPeriod"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gateway to Wi-Fi network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685" lvl="0" marL="28638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262424"/>
              </a:buClr>
              <a:buSzPts val="1350"/>
              <a:buFont typeface="Times New Roman"/>
              <a:buAutoNum type="arabicPeriod"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Navigate to </a:t>
            </a:r>
            <a:r>
              <a:rPr lang="en-US" sz="135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http://shelf.local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685" lvl="0" marL="286385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262424"/>
              </a:buClr>
              <a:buSzPts val="1350"/>
              <a:buFont typeface="Times New Roman"/>
              <a:buAutoNum type="arabicPeriod"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 product details and push to label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342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 BLE operates on short-range with time-limited windows. Admin pages require authentication. All credentials stored securely in NVS Flash.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5972035" y="2666895"/>
            <a:ext cx="57785" cy="57785"/>
          </a:xfrm>
          <a:custGeom>
            <a:rect b="b" l="l" r="r" t="t"/>
            <a:pathLst>
              <a:path extrusionOk="0" h="57785" w="57785">
                <a:moveTo>
                  <a:pt x="32766" y="0"/>
                </a:moveTo>
                <a:lnTo>
                  <a:pt x="24841" y="0"/>
                </a:lnTo>
                <a:lnTo>
                  <a:pt x="21247" y="711"/>
                </a:lnTo>
                <a:lnTo>
                  <a:pt x="0" y="24828"/>
                </a:lnTo>
                <a:lnTo>
                  <a:pt x="0" y="32397"/>
                </a:lnTo>
                <a:lnTo>
                  <a:pt x="24841" y="57594"/>
                </a:lnTo>
                <a:lnTo>
                  <a:pt x="32766" y="57594"/>
                </a:lnTo>
                <a:lnTo>
                  <a:pt x="48958" y="48958"/>
                </a:lnTo>
                <a:lnTo>
                  <a:pt x="51841" y="46431"/>
                </a:lnTo>
                <a:lnTo>
                  <a:pt x="54000" y="43192"/>
                </a:lnTo>
                <a:lnTo>
                  <a:pt x="55448" y="39954"/>
                </a:lnTo>
                <a:lnTo>
                  <a:pt x="56883" y="36360"/>
                </a:lnTo>
                <a:lnTo>
                  <a:pt x="57607" y="32397"/>
                </a:lnTo>
                <a:lnTo>
                  <a:pt x="57607" y="28435"/>
                </a:lnTo>
                <a:lnTo>
                  <a:pt x="57607" y="24828"/>
                </a:lnTo>
                <a:lnTo>
                  <a:pt x="36360" y="711"/>
                </a:lnTo>
                <a:lnTo>
                  <a:pt x="32766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5972035" y="3000244"/>
            <a:ext cx="57785" cy="57785"/>
          </a:xfrm>
          <a:custGeom>
            <a:rect b="b" l="l" r="r" t="t"/>
            <a:pathLst>
              <a:path extrusionOk="0" h="57785" w="57785">
                <a:moveTo>
                  <a:pt x="32766" y="0"/>
                </a:moveTo>
                <a:lnTo>
                  <a:pt x="24841" y="0"/>
                </a:lnTo>
                <a:lnTo>
                  <a:pt x="21247" y="723"/>
                </a:lnTo>
                <a:lnTo>
                  <a:pt x="0" y="24841"/>
                </a:lnTo>
                <a:lnTo>
                  <a:pt x="0" y="32410"/>
                </a:lnTo>
                <a:lnTo>
                  <a:pt x="24841" y="57607"/>
                </a:lnTo>
                <a:lnTo>
                  <a:pt x="32766" y="57607"/>
                </a:lnTo>
                <a:lnTo>
                  <a:pt x="48958" y="48958"/>
                </a:lnTo>
                <a:lnTo>
                  <a:pt x="51841" y="46443"/>
                </a:lnTo>
                <a:lnTo>
                  <a:pt x="54000" y="43205"/>
                </a:lnTo>
                <a:lnTo>
                  <a:pt x="56883" y="36004"/>
                </a:lnTo>
                <a:lnTo>
                  <a:pt x="57607" y="32410"/>
                </a:lnTo>
                <a:lnTo>
                  <a:pt x="57607" y="28448"/>
                </a:lnTo>
                <a:lnTo>
                  <a:pt x="57607" y="24841"/>
                </a:lnTo>
                <a:lnTo>
                  <a:pt x="36360" y="723"/>
                </a:lnTo>
                <a:lnTo>
                  <a:pt x="32766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5972035" y="3333607"/>
            <a:ext cx="57785" cy="57785"/>
          </a:xfrm>
          <a:custGeom>
            <a:rect b="b" l="l" r="r" t="t"/>
            <a:pathLst>
              <a:path extrusionOk="0" h="57785" w="57785">
                <a:moveTo>
                  <a:pt x="32766" y="0"/>
                </a:moveTo>
                <a:lnTo>
                  <a:pt x="24841" y="0"/>
                </a:lnTo>
                <a:lnTo>
                  <a:pt x="21247" y="723"/>
                </a:lnTo>
                <a:lnTo>
                  <a:pt x="0" y="24841"/>
                </a:lnTo>
                <a:lnTo>
                  <a:pt x="0" y="32397"/>
                </a:lnTo>
                <a:lnTo>
                  <a:pt x="8280" y="48602"/>
                </a:lnTo>
                <a:lnTo>
                  <a:pt x="11163" y="51841"/>
                </a:lnTo>
                <a:lnTo>
                  <a:pt x="14046" y="54000"/>
                </a:lnTo>
                <a:lnTo>
                  <a:pt x="21247" y="56883"/>
                </a:lnTo>
                <a:lnTo>
                  <a:pt x="24841" y="57607"/>
                </a:lnTo>
                <a:lnTo>
                  <a:pt x="32766" y="57607"/>
                </a:lnTo>
                <a:lnTo>
                  <a:pt x="48958" y="48602"/>
                </a:lnTo>
                <a:lnTo>
                  <a:pt x="51841" y="46088"/>
                </a:lnTo>
                <a:lnTo>
                  <a:pt x="54000" y="42837"/>
                </a:lnTo>
                <a:lnTo>
                  <a:pt x="55448" y="39598"/>
                </a:lnTo>
                <a:lnTo>
                  <a:pt x="56883" y="36004"/>
                </a:lnTo>
                <a:lnTo>
                  <a:pt x="57607" y="32397"/>
                </a:lnTo>
                <a:lnTo>
                  <a:pt x="57607" y="28448"/>
                </a:lnTo>
                <a:lnTo>
                  <a:pt x="57607" y="24841"/>
                </a:lnTo>
                <a:lnTo>
                  <a:pt x="36360" y="723"/>
                </a:lnTo>
                <a:lnTo>
                  <a:pt x="32766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5972035" y="3666969"/>
            <a:ext cx="57785" cy="57785"/>
          </a:xfrm>
          <a:custGeom>
            <a:rect b="b" l="l" r="r" t="t"/>
            <a:pathLst>
              <a:path extrusionOk="0" h="57785" w="57785">
                <a:moveTo>
                  <a:pt x="32766" y="0"/>
                </a:moveTo>
                <a:lnTo>
                  <a:pt x="24841" y="0"/>
                </a:lnTo>
                <a:lnTo>
                  <a:pt x="21247" y="723"/>
                </a:lnTo>
                <a:lnTo>
                  <a:pt x="17640" y="2514"/>
                </a:lnTo>
                <a:lnTo>
                  <a:pt x="14046" y="3962"/>
                </a:lnTo>
                <a:lnTo>
                  <a:pt x="0" y="25196"/>
                </a:lnTo>
                <a:lnTo>
                  <a:pt x="0" y="32765"/>
                </a:lnTo>
                <a:lnTo>
                  <a:pt x="24841" y="57594"/>
                </a:lnTo>
                <a:lnTo>
                  <a:pt x="32766" y="57594"/>
                </a:lnTo>
                <a:lnTo>
                  <a:pt x="48958" y="48958"/>
                </a:lnTo>
                <a:lnTo>
                  <a:pt x="51841" y="46443"/>
                </a:lnTo>
                <a:lnTo>
                  <a:pt x="54000" y="43205"/>
                </a:lnTo>
                <a:lnTo>
                  <a:pt x="55448" y="39954"/>
                </a:lnTo>
                <a:lnTo>
                  <a:pt x="56883" y="36360"/>
                </a:lnTo>
                <a:lnTo>
                  <a:pt x="57607" y="32765"/>
                </a:lnTo>
                <a:lnTo>
                  <a:pt x="57607" y="28803"/>
                </a:lnTo>
                <a:lnTo>
                  <a:pt x="57607" y="25196"/>
                </a:lnTo>
                <a:lnTo>
                  <a:pt x="39966" y="2514"/>
                </a:lnTo>
                <a:lnTo>
                  <a:pt x="36360" y="723"/>
                </a:lnTo>
                <a:lnTo>
                  <a:pt x="32766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5972035" y="4000331"/>
            <a:ext cx="57785" cy="57785"/>
          </a:xfrm>
          <a:custGeom>
            <a:rect b="b" l="l" r="r" t="t"/>
            <a:pathLst>
              <a:path extrusionOk="0" h="57785" w="57785">
                <a:moveTo>
                  <a:pt x="32766" y="0"/>
                </a:moveTo>
                <a:lnTo>
                  <a:pt x="24841" y="0"/>
                </a:lnTo>
                <a:lnTo>
                  <a:pt x="21247" y="723"/>
                </a:lnTo>
                <a:lnTo>
                  <a:pt x="0" y="25196"/>
                </a:lnTo>
                <a:lnTo>
                  <a:pt x="0" y="32753"/>
                </a:lnTo>
                <a:lnTo>
                  <a:pt x="24841" y="57594"/>
                </a:lnTo>
                <a:lnTo>
                  <a:pt x="32766" y="57594"/>
                </a:lnTo>
                <a:lnTo>
                  <a:pt x="57607" y="32753"/>
                </a:lnTo>
                <a:lnTo>
                  <a:pt x="57607" y="28803"/>
                </a:lnTo>
                <a:lnTo>
                  <a:pt x="57607" y="25196"/>
                </a:lnTo>
                <a:lnTo>
                  <a:pt x="36360" y="723"/>
                </a:lnTo>
                <a:lnTo>
                  <a:pt x="32766" y="0"/>
                </a:lnTo>
                <a:close/>
              </a:path>
            </a:pathLst>
          </a:custGeom>
          <a:solidFill>
            <a:srgbClr val="26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5920816" y="2097630"/>
            <a:ext cx="4083600" cy="19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latin typeface="Times New Roman"/>
                <a:ea typeface="Times New Roman"/>
                <a:cs typeface="Times New Roman"/>
                <a:sym typeface="Times New Roman"/>
              </a:rPr>
              <a:t>Enhancement Pipeline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6385" marR="5080" rtl="0" algn="just">
              <a:lnSpc>
                <a:spcPct val="162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Multi-label support for store-wide deployments Label grouping and zone management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6385" marR="777240" rtl="0" algn="just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6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 encryption for enhanced security Battery voltage monitoring and alerts QR-based label provisioning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62424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